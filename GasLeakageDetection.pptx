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1" r:id="rId1"/>
  </p:sldMasterIdLst>
  <p:notesMasterIdLst>
    <p:notesMasterId r:id="rId26"/>
  </p:notesMasterIdLst>
  <p:sldIdLst>
    <p:sldId id="256" r:id="rId2"/>
    <p:sldId id="257" r:id="rId3"/>
    <p:sldId id="258" r:id="rId4"/>
    <p:sldId id="279" r:id="rId5"/>
    <p:sldId id="259" r:id="rId6"/>
    <p:sldId id="260" r:id="rId7"/>
    <p:sldId id="262" r:id="rId8"/>
    <p:sldId id="267" r:id="rId9"/>
    <p:sldId id="268" r:id="rId10"/>
    <p:sldId id="261" r:id="rId11"/>
    <p:sldId id="263" r:id="rId12"/>
    <p:sldId id="264" r:id="rId13"/>
    <p:sldId id="269" r:id="rId14"/>
    <p:sldId id="271" r:id="rId15"/>
    <p:sldId id="265" r:id="rId16"/>
    <p:sldId id="266" r:id="rId17"/>
    <p:sldId id="272" r:id="rId18"/>
    <p:sldId id="273" r:id="rId19"/>
    <p:sldId id="274" r:id="rId20"/>
    <p:sldId id="276" r:id="rId21"/>
    <p:sldId id="275" r:id="rId22"/>
    <p:sldId id="277" r:id="rId23"/>
    <p:sldId id="278" r:id="rId24"/>
    <p:sldId id="280"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1" d="100"/>
          <a:sy n="51" d="100"/>
        </p:scale>
        <p:origin x="380"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354832-52C2-4AD8-947B-AAE4552C495F}" type="datetimeFigureOut">
              <a:rPr lang="en-GB" smtClean="0"/>
              <a:t>25/06/2026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10A751-4D49-439E-8E3D-43CDB78F12D3}" type="slidenum">
              <a:rPr lang="en-GB" smtClean="0"/>
              <a:t>‹#›</a:t>
            </a:fld>
            <a:endParaRPr lang="en-GB"/>
          </a:p>
        </p:txBody>
      </p:sp>
    </p:spTree>
    <p:extLst>
      <p:ext uri="{BB962C8B-B14F-4D97-AF65-F5344CB8AC3E}">
        <p14:creationId xmlns:p14="http://schemas.microsoft.com/office/powerpoint/2010/main" val="306645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10A751-4D49-439E-8E3D-43CDB78F12D3}" type="slidenum">
              <a:rPr lang="en-GB" smtClean="0"/>
              <a:t>24</a:t>
            </a:fld>
            <a:endParaRPr lang="en-GB"/>
          </a:p>
        </p:txBody>
      </p:sp>
    </p:spTree>
    <p:extLst>
      <p:ext uri="{BB962C8B-B14F-4D97-AF65-F5344CB8AC3E}">
        <p14:creationId xmlns:p14="http://schemas.microsoft.com/office/powerpoint/2010/main" val="34531083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smtClean="0"/>
              <a:t>6/23/2026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1607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smtClean="0"/>
              <a:t>6/23/2026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t>‹#›</a:t>
            </a:fld>
            <a:endParaRPr lang="en-US" dirty="0"/>
          </a:p>
        </p:txBody>
      </p:sp>
    </p:spTree>
    <p:extLst>
      <p:ext uri="{BB962C8B-B14F-4D97-AF65-F5344CB8AC3E}">
        <p14:creationId xmlns:p14="http://schemas.microsoft.com/office/powerpoint/2010/main" val="4049033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smtClean="0"/>
              <a:t>6/23/2026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3181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smtClean="0"/>
              <a:t>6/23/2026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97806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smtClean="0"/>
              <a:t>6/23/2026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595342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smtClean="0"/>
              <a:t>6/23/2026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515057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smtClean="0"/>
              <a:t>6/23/2026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03709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smtClean="0"/>
              <a:t>6/23/2026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6999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smtClean="0"/>
              <a:t>6/23/2026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295861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smtClean="0"/>
              <a:t>6/23/2026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444549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smtClean="0"/>
              <a:t>6/23/2026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585835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smtClean="0"/>
              <a:t>6/23/2026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971978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793BA-4BA9-00D0-17FA-B34D4E98FC22}"/>
              </a:ext>
            </a:extLst>
          </p:cNvPr>
          <p:cNvSpPr>
            <a:spLocks noGrp="1"/>
          </p:cNvSpPr>
          <p:nvPr>
            <p:ph type="ctrTitle"/>
          </p:nvPr>
        </p:nvSpPr>
        <p:spPr/>
        <p:txBody>
          <a:bodyPr>
            <a:normAutofit/>
          </a:bodyPr>
          <a:lstStyle/>
          <a:p>
            <a:r>
              <a:rPr lang="en-GB" sz="3200" dirty="0">
                <a:latin typeface="Aptos Slab SemiBold" panose="020F0502020204030204" pitchFamily="34" charset="0"/>
              </a:rPr>
              <a:t>GAS LEAKAGE DETECTION AND ALERT SYSTEM (USING ESP32 AND THINGSPEAK)</a:t>
            </a:r>
            <a:br>
              <a:rPr lang="en-GB" sz="3200" dirty="0">
                <a:latin typeface="Aptos Slab SemiBold" panose="020F0502020204030204" pitchFamily="34" charset="0"/>
              </a:rPr>
            </a:br>
            <a:endParaRPr lang="en-GB" sz="3200" dirty="0">
              <a:latin typeface="Aptos Slab SemiBold" panose="020F0502020204030204" pitchFamily="34" charset="0"/>
            </a:endParaRPr>
          </a:p>
        </p:txBody>
      </p:sp>
      <p:sp>
        <p:nvSpPr>
          <p:cNvPr id="3" name="Subtitle 2">
            <a:extLst>
              <a:ext uri="{FF2B5EF4-FFF2-40B4-BE49-F238E27FC236}">
                <a16:creationId xmlns:a16="http://schemas.microsoft.com/office/drawing/2014/main" id="{7009F6C7-95D8-C62D-7FD7-B9BAE6A6FFAF}"/>
              </a:ext>
            </a:extLst>
          </p:cNvPr>
          <p:cNvSpPr>
            <a:spLocks noGrp="1"/>
          </p:cNvSpPr>
          <p:nvPr>
            <p:ph type="subTitle" idx="1"/>
          </p:nvPr>
        </p:nvSpPr>
        <p:spPr/>
        <p:txBody>
          <a:bodyPr>
            <a:normAutofit fontScale="85000" lnSpcReduction="20000"/>
          </a:bodyPr>
          <a:lstStyle/>
          <a:p>
            <a:r>
              <a:rPr lang="en-GB" dirty="0">
                <a:latin typeface="Aptos Slab Light" panose="020B0004020202020204" pitchFamily="34" charset="0"/>
              </a:rPr>
              <a:t>SUBMITTED BY:</a:t>
            </a:r>
          </a:p>
          <a:p>
            <a:r>
              <a:rPr lang="en-GB" dirty="0">
                <a:latin typeface="Aptos Slab Light" panose="020B0004020202020204" pitchFamily="34" charset="0"/>
              </a:rPr>
              <a:t>AJNA SAJ(24BAI0270)</a:t>
            </a:r>
          </a:p>
          <a:p>
            <a:r>
              <a:rPr lang="en-GB" dirty="0">
                <a:latin typeface="Aptos Slab Light" panose="020B0004020202020204" pitchFamily="34" charset="0"/>
              </a:rPr>
              <a:t>B.TECH CSE (AI&amp;ML), VIT VELLORE</a:t>
            </a:r>
          </a:p>
          <a:p>
            <a:endParaRPr lang="en-GB" dirty="0"/>
          </a:p>
        </p:txBody>
      </p:sp>
    </p:spTree>
    <p:extLst>
      <p:ext uri="{BB962C8B-B14F-4D97-AF65-F5344CB8AC3E}">
        <p14:creationId xmlns:p14="http://schemas.microsoft.com/office/powerpoint/2010/main" val="3982245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0000"/>
            <a:shade val="97000"/>
            <a:satMod val="13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4CE3AD-C754-4F1E-A76F-1EDDF71796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57897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51C708-4282-A36C-1AFC-F5FA51532C2B}"/>
              </a:ext>
            </a:extLst>
          </p:cNvPr>
          <p:cNvSpPr>
            <a:spLocks noGrp="1"/>
          </p:cNvSpPr>
          <p:nvPr>
            <p:ph type="title"/>
          </p:nvPr>
        </p:nvSpPr>
        <p:spPr>
          <a:xfrm>
            <a:off x="781877" y="643467"/>
            <a:ext cx="3467569" cy="5571066"/>
          </a:xfrm>
        </p:spPr>
        <p:txBody>
          <a:bodyPr anchor="ctr">
            <a:normAutofit/>
          </a:bodyPr>
          <a:lstStyle/>
          <a:p>
            <a:r>
              <a:rPr lang="en-GB" sz="4000">
                <a:solidFill>
                  <a:srgbClr val="FFFFFF"/>
                </a:solidFill>
                <a:latin typeface="Aptos Slab SemiBold" panose="020B0004020202020204" pitchFamily="34" charset="0"/>
              </a:rPr>
              <a:t>AIM</a:t>
            </a:r>
          </a:p>
        </p:txBody>
      </p:sp>
      <p:sp>
        <p:nvSpPr>
          <p:cNvPr id="10" name="Rectangle 9">
            <a:extLst>
              <a:ext uri="{FF2B5EF4-FFF2-40B4-BE49-F238E27FC236}">
                <a16:creationId xmlns:a16="http://schemas.microsoft.com/office/drawing/2014/main" id="{D238B743-4443-4735-BFC2-B514F6409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4578973" y="0"/>
            <a:ext cx="7613027"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D9BAAB33-58D2-DB62-C60C-71D4CCB433E7}"/>
              </a:ext>
            </a:extLst>
          </p:cNvPr>
          <p:cNvSpPr>
            <a:spLocks noGrp="1"/>
          </p:cNvSpPr>
          <p:nvPr>
            <p:ph idx="1"/>
          </p:nvPr>
        </p:nvSpPr>
        <p:spPr>
          <a:xfrm>
            <a:off x="5124206" y="643467"/>
            <a:ext cx="6104288" cy="5571065"/>
          </a:xfrm>
        </p:spPr>
        <p:txBody>
          <a:bodyPr anchor="ctr">
            <a:normAutofit/>
          </a:bodyPr>
          <a:lstStyle/>
          <a:p>
            <a:r>
              <a:rPr lang="en-GB" sz="1800">
                <a:solidFill>
                  <a:srgbClr val="FFFFFF"/>
                </a:solidFill>
                <a:latin typeface="Aptos Serif" panose="020B0502040204020203" pitchFamily="18" charset="0"/>
                <a:cs typeface="Aptos Serif" panose="020B0502040204020203" pitchFamily="18" charset="0"/>
              </a:rPr>
              <a:t>To design and simulate an IoT-based Gas Leakage Detection and Alert System using an ESP32 microcontroller, MQ-2 gas sensor, and ThingSpeak cloud platform to detect hazardous gas concentrations and provide visual, audible, and cloud-based alerts.</a:t>
            </a:r>
          </a:p>
          <a:p>
            <a:endParaRPr lang="en-GB" sz="1800">
              <a:solidFill>
                <a:srgbClr val="FFFFFF"/>
              </a:solidFill>
            </a:endParaRPr>
          </a:p>
        </p:txBody>
      </p:sp>
    </p:spTree>
    <p:extLst>
      <p:ext uri="{BB962C8B-B14F-4D97-AF65-F5344CB8AC3E}">
        <p14:creationId xmlns:p14="http://schemas.microsoft.com/office/powerpoint/2010/main" val="218724370"/>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tint val="90000"/>
            <a:shade val="97000"/>
            <a:satMod val="13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4CE3AD-C754-4F1E-A76F-1EDDF71796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57897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AFD110-8AE7-745D-E7A6-E236BF997C9A}"/>
              </a:ext>
            </a:extLst>
          </p:cNvPr>
          <p:cNvSpPr>
            <a:spLocks noGrp="1"/>
          </p:cNvSpPr>
          <p:nvPr>
            <p:ph type="title"/>
          </p:nvPr>
        </p:nvSpPr>
        <p:spPr>
          <a:xfrm>
            <a:off x="781877" y="643467"/>
            <a:ext cx="3467569" cy="5571066"/>
          </a:xfrm>
        </p:spPr>
        <p:txBody>
          <a:bodyPr anchor="ctr">
            <a:normAutofit/>
          </a:bodyPr>
          <a:lstStyle/>
          <a:p>
            <a:r>
              <a:rPr lang="en-GB" sz="4000">
                <a:solidFill>
                  <a:srgbClr val="FFFFFF"/>
                </a:solidFill>
                <a:latin typeface="Aptos Slab SemiBold" panose="020B0004020202020204" pitchFamily="34" charset="0"/>
              </a:rPr>
              <a:t>PROBLEM STATEMENT</a:t>
            </a:r>
          </a:p>
        </p:txBody>
      </p:sp>
      <p:sp>
        <p:nvSpPr>
          <p:cNvPr id="10" name="Rectangle 9">
            <a:extLst>
              <a:ext uri="{FF2B5EF4-FFF2-40B4-BE49-F238E27FC236}">
                <a16:creationId xmlns:a16="http://schemas.microsoft.com/office/drawing/2014/main" id="{D238B743-4443-4735-BFC2-B514F6409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4578973" y="0"/>
            <a:ext cx="7613027"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B87C9E7A-ADAE-4ECC-1F52-0C4C34E3823A}"/>
              </a:ext>
            </a:extLst>
          </p:cNvPr>
          <p:cNvSpPr>
            <a:spLocks noGrp="1"/>
          </p:cNvSpPr>
          <p:nvPr>
            <p:ph idx="1"/>
          </p:nvPr>
        </p:nvSpPr>
        <p:spPr>
          <a:xfrm>
            <a:off x="5124206" y="643467"/>
            <a:ext cx="6104288" cy="5571065"/>
          </a:xfrm>
        </p:spPr>
        <p:txBody>
          <a:bodyPr anchor="ctr">
            <a:normAutofit/>
          </a:bodyPr>
          <a:lstStyle/>
          <a:p>
            <a:pPr marL="0" indent="0">
              <a:buNone/>
            </a:pPr>
            <a:r>
              <a:rPr lang="en-GB" sz="1800">
                <a:solidFill>
                  <a:srgbClr val="FFFFFF"/>
                </a:solidFill>
              </a:rPr>
              <a:t>Unnoticed gas leaks in residential and industrial environments pose significant safety hazards, including fire and explosions. Existing manual or periodic inspection methods are often unreliable and may fail to provide timely warnings. Therefore, there is a need for an automated, low-cost system that continuously monitors gas concentration levels, provides immediate local alerts when dangerous levels are detected, and transmits real-time notifications to remote users or authorities, enabling rapid response and reducing potential risks.</a:t>
            </a:r>
            <a:endParaRPr lang="en-GB" sz="1800">
              <a:solidFill>
                <a:srgbClr val="FFFFFF"/>
              </a:solidFill>
              <a:latin typeface="Aptos Serif" panose="02020604070405020304" pitchFamily="18" charset="0"/>
              <a:cs typeface="Aptos Serif" panose="02020604070405020304" pitchFamily="18" charset="0"/>
            </a:endParaRPr>
          </a:p>
        </p:txBody>
      </p:sp>
    </p:spTree>
    <p:extLst>
      <p:ext uri="{BB962C8B-B14F-4D97-AF65-F5344CB8AC3E}">
        <p14:creationId xmlns:p14="http://schemas.microsoft.com/office/powerpoint/2010/main" val="2114768508"/>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tint val="90000"/>
            <a:shade val="97000"/>
            <a:satMod val="13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4CE3AD-C754-4F1E-A76F-1EDDF71796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57897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1B2C43-914C-E11B-C35B-9D4456C7CBCF}"/>
              </a:ext>
            </a:extLst>
          </p:cNvPr>
          <p:cNvSpPr>
            <a:spLocks noGrp="1"/>
          </p:cNvSpPr>
          <p:nvPr>
            <p:ph type="title"/>
          </p:nvPr>
        </p:nvSpPr>
        <p:spPr>
          <a:xfrm>
            <a:off x="781877" y="643467"/>
            <a:ext cx="3467569" cy="5571066"/>
          </a:xfrm>
        </p:spPr>
        <p:txBody>
          <a:bodyPr anchor="ctr">
            <a:normAutofit/>
          </a:bodyPr>
          <a:lstStyle/>
          <a:p>
            <a:r>
              <a:rPr lang="en-GB" sz="4000">
                <a:solidFill>
                  <a:srgbClr val="FFFFFF"/>
                </a:solidFill>
                <a:latin typeface="Aptos Slab SemiBold" panose="020B0004020202020204" pitchFamily="34" charset="0"/>
              </a:rPr>
              <a:t>SCOPE OF SOLUTION</a:t>
            </a:r>
          </a:p>
        </p:txBody>
      </p:sp>
      <p:sp>
        <p:nvSpPr>
          <p:cNvPr id="10" name="Rectangle 9">
            <a:extLst>
              <a:ext uri="{FF2B5EF4-FFF2-40B4-BE49-F238E27FC236}">
                <a16:creationId xmlns:a16="http://schemas.microsoft.com/office/drawing/2014/main" id="{D238B743-4443-4735-BFC2-B514F6409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4578973" y="0"/>
            <a:ext cx="7613027"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3ED63686-D4BA-C7B3-F593-1078506D1709}"/>
              </a:ext>
            </a:extLst>
          </p:cNvPr>
          <p:cNvSpPr>
            <a:spLocks noGrp="1"/>
          </p:cNvSpPr>
          <p:nvPr>
            <p:ph idx="1"/>
          </p:nvPr>
        </p:nvSpPr>
        <p:spPr>
          <a:xfrm>
            <a:off x="5124206" y="643467"/>
            <a:ext cx="6104288" cy="5571065"/>
          </a:xfrm>
        </p:spPr>
        <p:txBody>
          <a:bodyPr anchor="ctr">
            <a:normAutofit/>
          </a:bodyPr>
          <a:lstStyle/>
          <a:p>
            <a:endParaRPr lang="en-GB" sz="1800" dirty="0">
              <a:solidFill>
                <a:srgbClr val="FFFFFF"/>
              </a:solidFill>
              <a:latin typeface="Aptos Serif" panose="02020604070405020304" pitchFamily="18" charset="0"/>
              <a:cs typeface="Aptos Serif" panose="02020604070405020304" pitchFamily="18" charset="0"/>
            </a:endParaRPr>
          </a:p>
          <a:p>
            <a:r>
              <a:rPr lang="en-GB" sz="1800" b="1" dirty="0">
                <a:solidFill>
                  <a:srgbClr val="FFFFFF"/>
                </a:solidFill>
                <a:latin typeface="Aptos Serif" panose="02020604070405020304" pitchFamily="18" charset="0"/>
                <a:cs typeface="Aptos Serif" panose="02020604070405020304" pitchFamily="18" charset="0"/>
              </a:rPr>
              <a:t>Scope</a:t>
            </a:r>
            <a:endParaRPr lang="en-GB" sz="1800" dirty="0">
              <a:solidFill>
                <a:srgbClr val="FFFFFF"/>
              </a:solidFill>
              <a:latin typeface="Aptos Serif" panose="02020604070405020304" pitchFamily="18" charset="0"/>
              <a:cs typeface="Aptos Serif" panose="02020604070405020304" pitchFamily="18" charset="0"/>
            </a:endParaRPr>
          </a:p>
          <a:p>
            <a:r>
              <a:rPr lang="en-GB" sz="1800" dirty="0">
                <a:solidFill>
                  <a:srgbClr val="FFFFFF"/>
                </a:solidFill>
                <a:latin typeface="Aptos Serif" panose="02020604070405020304" pitchFamily="18" charset="0"/>
                <a:cs typeface="Aptos Serif" panose="02020604070405020304" pitchFamily="18" charset="0"/>
              </a:rPr>
              <a:t>Simulation-based implementation using </a:t>
            </a:r>
            <a:r>
              <a:rPr lang="en-GB" sz="1800" dirty="0" err="1">
                <a:solidFill>
                  <a:srgbClr val="FFFFFF"/>
                </a:solidFill>
                <a:latin typeface="Aptos Serif" panose="02020604070405020304" pitchFamily="18" charset="0"/>
                <a:cs typeface="Aptos Serif" panose="02020604070405020304" pitchFamily="18" charset="0"/>
              </a:rPr>
              <a:t>Wokwi</a:t>
            </a:r>
            <a:r>
              <a:rPr lang="en-GB" sz="1800" dirty="0">
                <a:solidFill>
                  <a:srgbClr val="FFFFFF"/>
                </a:solidFill>
                <a:latin typeface="Aptos Serif" panose="02020604070405020304" pitchFamily="18" charset="0"/>
                <a:cs typeface="Aptos Serif" panose="02020604070405020304" pitchFamily="18" charset="0"/>
              </a:rPr>
              <a:t>. </a:t>
            </a:r>
          </a:p>
          <a:p>
            <a:r>
              <a:rPr lang="en-GB" sz="1800" dirty="0">
                <a:solidFill>
                  <a:srgbClr val="FFFFFF"/>
                </a:solidFill>
                <a:latin typeface="Aptos Serif" panose="02020604070405020304" pitchFamily="18" charset="0"/>
                <a:cs typeface="Aptos Serif" panose="02020604070405020304" pitchFamily="18" charset="0"/>
              </a:rPr>
              <a:t>Remote monitoring through </a:t>
            </a:r>
            <a:r>
              <a:rPr lang="en-GB" sz="1800" dirty="0" err="1">
                <a:solidFill>
                  <a:srgbClr val="FFFFFF"/>
                </a:solidFill>
                <a:latin typeface="Aptos Serif" panose="02020604070405020304" pitchFamily="18" charset="0"/>
                <a:cs typeface="Aptos Serif" panose="02020604070405020304" pitchFamily="18" charset="0"/>
              </a:rPr>
              <a:t>ThingSpeak</a:t>
            </a:r>
            <a:r>
              <a:rPr lang="en-GB" sz="1800" dirty="0">
                <a:solidFill>
                  <a:srgbClr val="FFFFFF"/>
                </a:solidFill>
                <a:latin typeface="Aptos Serif" panose="02020604070405020304" pitchFamily="18" charset="0"/>
                <a:cs typeface="Aptos Serif" panose="02020604070405020304" pitchFamily="18" charset="0"/>
              </a:rPr>
              <a:t> integration. </a:t>
            </a:r>
          </a:p>
          <a:p>
            <a:r>
              <a:rPr lang="en-GB" sz="1800" dirty="0">
                <a:solidFill>
                  <a:srgbClr val="FFFFFF"/>
                </a:solidFill>
                <a:latin typeface="Aptos Serif" panose="02020604070405020304" pitchFamily="18" charset="0"/>
                <a:cs typeface="Aptos Serif" panose="02020604070405020304" pitchFamily="18" charset="0"/>
              </a:rPr>
              <a:t>Validation under safe and leak conditions. </a:t>
            </a:r>
          </a:p>
          <a:p>
            <a:r>
              <a:rPr lang="en-GB" sz="1800" b="1" dirty="0">
                <a:solidFill>
                  <a:srgbClr val="FFFFFF"/>
                </a:solidFill>
                <a:latin typeface="Aptos Serif" panose="02020604070405020304" pitchFamily="18" charset="0"/>
                <a:cs typeface="Aptos Serif" panose="02020604070405020304" pitchFamily="18" charset="0"/>
              </a:rPr>
              <a:t>Limitations</a:t>
            </a:r>
            <a:endParaRPr lang="en-GB" sz="1800" dirty="0">
              <a:solidFill>
                <a:srgbClr val="FFFFFF"/>
              </a:solidFill>
              <a:latin typeface="Aptos Serif" panose="02020604070405020304" pitchFamily="18" charset="0"/>
              <a:cs typeface="Aptos Serif" panose="02020604070405020304" pitchFamily="18" charset="0"/>
            </a:endParaRPr>
          </a:p>
          <a:p>
            <a:r>
              <a:rPr lang="en-GB" sz="1800" dirty="0">
                <a:solidFill>
                  <a:srgbClr val="FFFFFF"/>
                </a:solidFill>
                <a:latin typeface="Aptos Serif" panose="02020604070405020304" pitchFamily="18" charset="0"/>
                <a:cs typeface="Aptos Serif" panose="02020604070405020304" pitchFamily="18" charset="0"/>
              </a:rPr>
              <a:t>Requires internet connectivity for cloud services. </a:t>
            </a:r>
          </a:p>
          <a:p>
            <a:r>
              <a:rPr lang="en-GB" sz="1800" dirty="0">
                <a:solidFill>
                  <a:srgbClr val="FFFFFF"/>
                </a:solidFill>
                <a:latin typeface="Aptos Serif" panose="02020604070405020304" pitchFamily="18" charset="0"/>
                <a:cs typeface="Aptos Serif" panose="02020604070405020304" pitchFamily="18" charset="0"/>
              </a:rPr>
              <a:t>Threshold calibration is simulation-specific. </a:t>
            </a:r>
          </a:p>
          <a:p>
            <a:r>
              <a:rPr lang="en-GB" sz="1800" dirty="0">
                <a:solidFill>
                  <a:srgbClr val="FFFFFF"/>
                </a:solidFill>
                <a:latin typeface="Aptos Serif" panose="02020604070405020304" pitchFamily="18" charset="0"/>
                <a:cs typeface="Aptos Serif" panose="02020604070405020304" pitchFamily="18" charset="0"/>
              </a:rPr>
              <a:t>Does not support SMS, email, or mobile notifications.</a:t>
            </a:r>
          </a:p>
          <a:p>
            <a:pPr marL="0" indent="0">
              <a:buNone/>
            </a:pPr>
            <a:endParaRPr lang="en-GB" sz="1800" b="1" dirty="0">
              <a:solidFill>
                <a:srgbClr val="FFFFFF"/>
              </a:solidFill>
              <a:latin typeface="Aptos Serif" panose="02020604070405020304" pitchFamily="18" charset="0"/>
              <a:cs typeface="Aptos Serif" panose="02020604070405020304" pitchFamily="18" charset="0"/>
            </a:endParaRPr>
          </a:p>
          <a:p>
            <a:endParaRPr lang="en-GB" sz="1800" dirty="0">
              <a:solidFill>
                <a:srgbClr val="FFFFFF"/>
              </a:solidFill>
            </a:endParaRPr>
          </a:p>
        </p:txBody>
      </p:sp>
    </p:spTree>
    <p:extLst>
      <p:ext uri="{BB962C8B-B14F-4D97-AF65-F5344CB8AC3E}">
        <p14:creationId xmlns:p14="http://schemas.microsoft.com/office/powerpoint/2010/main" val="655271138"/>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ECF0FC6-D57B-48B6-9036-F4FFD91A4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7ADE58-34F9-4452-0198-639E23575F71}"/>
              </a:ext>
            </a:extLst>
          </p:cNvPr>
          <p:cNvSpPr>
            <a:spLocks noGrp="1"/>
          </p:cNvSpPr>
          <p:nvPr>
            <p:ph type="title"/>
          </p:nvPr>
        </p:nvSpPr>
        <p:spPr>
          <a:xfrm>
            <a:off x="990932" y="286603"/>
            <a:ext cx="6750987" cy="1450757"/>
          </a:xfrm>
        </p:spPr>
        <p:txBody>
          <a:bodyPr>
            <a:normAutofit/>
          </a:bodyPr>
          <a:lstStyle/>
          <a:p>
            <a:r>
              <a:rPr lang="en-GB">
                <a:solidFill>
                  <a:schemeClr val="accent2"/>
                </a:solidFill>
                <a:latin typeface="Aptos Slab SemiBold" panose="020B0004020202020204" pitchFamily="34" charset="0"/>
              </a:rPr>
              <a:t>OBJECTIVES</a:t>
            </a:r>
          </a:p>
        </p:txBody>
      </p:sp>
      <p:sp>
        <p:nvSpPr>
          <p:cNvPr id="3" name="Content Placeholder 2">
            <a:extLst>
              <a:ext uri="{FF2B5EF4-FFF2-40B4-BE49-F238E27FC236}">
                <a16:creationId xmlns:a16="http://schemas.microsoft.com/office/drawing/2014/main" id="{6FC02134-6A70-9038-193C-A803AE3BC80B}"/>
              </a:ext>
            </a:extLst>
          </p:cNvPr>
          <p:cNvSpPr>
            <a:spLocks noGrp="1"/>
          </p:cNvSpPr>
          <p:nvPr>
            <p:ph idx="1"/>
          </p:nvPr>
        </p:nvSpPr>
        <p:spPr>
          <a:xfrm>
            <a:off x="1044204" y="2023962"/>
            <a:ext cx="6697715" cy="3845131"/>
          </a:xfrm>
        </p:spPr>
        <p:txBody>
          <a:bodyPr>
            <a:normAutofit/>
          </a:bodyPr>
          <a:lstStyle/>
          <a:p>
            <a:pPr>
              <a:buFont typeface="Wingdings" panose="05000000000000000000" pitchFamily="2" charset="2"/>
              <a:buChar char="q"/>
            </a:pPr>
            <a:r>
              <a:rPr lang="en-GB" dirty="0">
                <a:latin typeface="Aptos Serif" panose="02020604070405020304" pitchFamily="18" charset="0"/>
                <a:cs typeface="Aptos Serif" panose="02020604070405020304" pitchFamily="18" charset="0"/>
              </a:rPr>
              <a:t>Detect combustible gas using MQ-2 sensor </a:t>
            </a:r>
          </a:p>
          <a:p>
            <a:pPr>
              <a:buFont typeface="Wingdings" panose="05000000000000000000" pitchFamily="2" charset="2"/>
              <a:buChar char="q"/>
            </a:pPr>
            <a:r>
              <a:rPr lang="en-GB" dirty="0">
                <a:latin typeface="Aptos Serif" panose="02020604070405020304" pitchFamily="18" charset="0"/>
                <a:cs typeface="Aptos Serif" panose="02020604070405020304" pitchFamily="18" charset="0"/>
              </a:rPr>
              <a:t>Display gas concentration on LCD </a:t>
            </a:r>
          </a:p>
          <a:p>
            <a:pPr>
              <a:buFont typeface="Wingdings" panose="05000000000000000000" pitchFamily="2" charset="2"/>
              <a:buChar char="q"/>
            </a:pPr>
            <a:r>
              <a:rPr lang="en-GB" dirty="0">
                <a:latin typeface="Aptos Serif" panose="02020604070405020304" pitchFamily="18" charset="0"/>
                <a:cs typeface="Aptos Serif" panose="02020604070405020304" pitchFamily="18" charset="0"/>
              </a:rPr>
              <a:t>Indicate safe and unsafe conditions using LEDs </a:t>
            </a:r>
          </a:p>
          <a:p>
            <a:pPr>
              <a:buFont typeface="Wingdings" panose="05000000000000000000" pitchFamily="2" charset="2"/>
              <a:buChar char="q"/>
            </a:pPr>
            <a:r>
              <a:rPr lang="en-GB" dirty="0">
                <a:latin typeface="Aptos Serif" panose="02020604070405020304" pitchFamily="18" charset="0"/>
                <a:cs typeface="Aptos Serif" panose="02020604070405020304" pitchFamily="18" charset="0"/>
              </a:rPr>
              <a:t>Sound a buzzer when gas concentration exceeds a threshold </a:t>
            </a:r>
          </a:p>
          <a:p>
            <a:pPr>
              <a:buFont typeface="Wingdings" panose="05000000000000000000" pitchFamily="2" charset="2"/>
              <a:buChar char="q"/>
            </a:pPr>
            <a:r>
              <a:rPr lang="en-GB" dirty="0">
                <a:latin typeface="Aptos Serif" panose="02020604070405020304" pitchFamily="18" charset="0"/>
                <a:cs typeface="Aptos Serif" panose="02020604070405020304" pitchFamily="18" charset="0"/>
              </a:rPr>
              <a:t>Upload sensor readings to </a:t>
            </a:r>
            <a:r>
              <a:rPr lang="en-GB" dirty="0" err="1">
                <a:latin typeface="Aptos Serif" panose="02020604070405020304" pitchFamily="18" charset="0"/>
                <a:cs typeface="Aptos Serif" panose="02020604070405020304" pitchFamily="18" charset="0"/>
              </a:rPr>
              <a:t>ThingSpeak</a:t>
            </a:r>
            <a:r>
              <a:rPr lang="en-GB" dirty="0">
                <a:latin typeface="Aptos Serif" panose="02020604070405020304" pitchFamily="18" charset="0"/>
                <a:cs typeface="Aptos Serif" panose="02020604070405020304" pitchFamily="18" charset="0"/>
              </a:rPr>
              <a:t> </a:t>
            </a:r>
          </a:p>
          <a:p>
            <a:pPr>
              <a:buFont typeface="Wingdings" panose="05000000000000000000" pitchFamily="2" charset="2"/>
              <a:buChar char="q"/>
            </a:pPr>
            <a:r>
              <a:rPr lang="en-GB" dirty="0">
                <a:latin typeface="Aptos Serif" panose="02020604070405020304" pitchFamily="18" charset="0"/>
                <a:cs typeface="Aptos Serif" panose="02020604070405020304" pitchFamily="18" charset="0"/>
              </a:rPr>
              <a:t>Enable cloud-based monitoring and visualization </a:t>
            </a:r>
          </a:p>
          <a:p>
            <a:endParaRPr lang="en-GB" dirty="0">
              <a:latin typeface="Aptos Serif" panose="02020604070405020304" pitchFamily="18" charset="0"/>
              <a:cs typeface="Aptos Serif" panose="02020604070405020304" pitchFamily="18" charset="0"/>
            </a:endParaRPr>
          </a:p>
        </p:txBody>
      </p:sp>
      <p:sp>
        <p:nvSpPr>
          <p:cNvPr id="10" name="Rectangle 9">
            <a:extLst>
              <a:ext uri="{FF2B5EF4-FFF2-40B4-BE49-F238E27FC236}">
                <a16:creationId xmlns:a16="http://schemas.microsoft.com/office/drawing/2014/main" id="{717A211C-5863-4303-AC3D-AEBFDF6D6A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4150"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2" name="Rectangle 11">
            <a:extLst>
              <a:ext uri="{FF2B5EF4-FFF2-40B4-BE49-F238E27FC236}">
                <a16:creationId xmlns:a16="http://schemas.microsoft.com/office/drawing/2014/main" id="{087519CD-2FFF-42E3-BB0C-FEAA828BA5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2823"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3720434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F37BA-6C0D-7A5A-F836-870699780A28}"/>
              </a:ext>
            </a:extLst>
          </p:cNvPr>
          <p:cNvSpPr>
            <a:spLocks noGrp="1"/>
          </p:cNvSpPr>
          <p:nvPr>
            <p:ph type="title"/>
          </p:nvPr>
        </p:nvSpPr>
        <p:spPr/>
        <p:txBody>
          <a:bodyPr/>
          <a:lstStyle/>
          <a:p>
            <a:r>
              <a:rPr lang="en-GB" dirty="0">
                <a:latin typeface="Aptos Slab SemiBold" panose="020B0004020202020204" pitchFamily="34" charset="0"/>
              </a:rPr>
              <a:t>COMPONENTS USED</a:t>
            </a:r>
          </a:p>
        </p:txBody>
      </p:sp>
      <p:graphicFrame>
        <p:nvGraphicFramePr>
          <p:cNvPr id="5" name="Content Placeholder 4">
            <a:extLst>
              <a:ext uri="{FF2B5EF4-FFF2-40B4-BE49-F238E27FC236}">
                <a16:creationId xmlns:a16="http://schemas.microsoft.com/office/drawing/2014/main" id="{3CF7BEED-BED2-F409-22D7-A9BB5EF4B334}"/>
              </a:ext>
            </a:extLst>
          </p:cNvPr>
          <p:cNvGraphicFramePr>
            <a:graphicFrameLocks noGrp="1"/>
          </p:cNvGraphicFramePr>
          <p:nvPr>
            <p:ph idx="1"/>
            <p:extLst>
              <p:ext uri="{D42A27DB-BD31-4B8C-83A1-F6EECF244321}">
                <p14:modId xmlns:p14="http://schemas.microsoft.com/office/powerpoint/2010/main" val="966331513"/>
              </p:ext>
            </p:extLst>
          </p:nvPr>
        </p:nvGraphicFramePr>
        <p:xfrm>
          <a:off x="1089764" y="1846263"/>
          <a:ext cx="10065599" cy="4079240"/>
        </p:xfrm>
        <a:graphic>
          <a:graphicData uri="http://schemas.openxmlformats.org/drawingml/2006/table">
            <a:tbl>
              <a:tblPr firstRow="1" bandRow="1">
                <a:tableStyleId>{5C22544A-7EE6-4342-B048-85BDC9FD1C3A}</a:tableStyleId>
              </a:tblPr>
              <a:tblGrid>
                <a:gridCol w="5036399">
                  <a:extLst>
                    <a:ext uri="{9D8B030D-6E8A-4147-A177-3AD203B41FA5}">
                      <a16:colId xmlns:a16="http://schemas.microsoft.com/office/drawing/2014/main" val="3472089751"/>
                    </a:ext>
                  </a:extLst>
                </a:gridCol>
                <a:gridCol w="5029200">
                  <a:extLst>
                    <a:ext uri="{9D8B030D-6E8A-4147-A177-3AD203B41FA5}">
                      <a16:colId xmlns:a16="http://schemas.microsoft.com/office/drawing/2014/main" val="620235932"/>
                    </a:ext>
                  </a:extLst>
                </a:gridCol>
              </a:tblGrid>
              <a:tr h="370840">
                <a:tc>
                  <a:txBody>
                    <a:bodyPr/>
                    <a:lstStyle/>
                    <a:p>
                      <a:r>
                        <a:rPr lang="en-GB" dirty="0">
                          <a:latin typeface="Aptos Serif" panose="02020604070405020304" pitchFamily="18" charset="0"/>
                        </a:rPr>
                        <a:t>COMPONENT</a:t>
                      </a:r>
                    </a:p>
                  </a:txBody>
                  <a:tcPr/>
                </a:tc>
                <a:tc>
                  <a:txBody>
                    <a:bodyPr/>
                    <a:lstStyle/>
                    <a:p>
                      <a:r>
                        <a:rPr lang="en-GB" dirty="0">
                          <a:latin typeface="Aptos Serif" panose="02020604070405020304" pitchFamily="18" charset="0"/>
                        </a:rPr>
                        <a:t>QUANTITY</a:t>
                      </a:r>
                    </a:p>
                  </a:txBody>
                  <a:tcPr/>
                </a:tc>
                <a:extLst>
                  <a:ext uri="{0D108BD9-81ED-4DB2-BD59-A6C34878D82A}">
                    <a16:rowId xmlns:a16="http://schemas.microsoft.com/office/drawing/2014/main" val="1419947783"/>
                  </a:ext>
                </a:extLst>
              </a:tr>
              <a:tr h="370840">
                <a:tc>
                  <a:txBody>
                    <a:bodyPr/>
                    <a:lstStyle/>
                    <a:p>
                      <a:r>
                        <a:rPr lang="en-GB" baseline="0" dirty="0">
                          <a:latin typeface="Aptos Serif" panose="02020604070405020304" pitchFamily="18" charset="0"/>
                        </a:rPr>
                        <a:t>ESP32</a:t>
                      </a:r>
                      <a:r>
                        <a:rPr lang="en-GB" dirty="0">
                          <a:latin typeface="Aptos Serif" panose="02020604070405020304" pitchFamily="18" charset="0"/>
                        </a:rPr>
                        <a:t> Development Board</a:t>
                      </a:r>
                    </a:p>
                  </a:txBody>
                  <a:tcPr/>
                </a:tc>
                <a:tc>
                  <a:txBody>
                    <a:bodyPr/>
                    <a:lstStyle/>
                    <a:p>
                      <a:r>
                        <a:rPr lang="en-GB" dirty="0">
                          <a:latin typeface="Aptos Serif" panose="02020604070405020304" pitchFamily="18" charset="0"/>
                        </a:rPr>
                        <a:t>1</a:t>
                      </a:r>
                    </a:p>
                  </a:txBody>
                  <a:tcPr/>
                </a:tc>
                <a:extLst>
                  <a:ext uri="{0D108BD9-81ED-4DB2-BD59-A6C34878D82A}">
                    <a16:rowId xmlns:a16="http://schemas.microsoft.com/office/drawing/2014/main" val="2384754626"/>
                  </a:ext>
                </a:extLst>
              </a:tr>
              <a:tr h="370840">
                <a:tc>
                  <a:txBody>
                    <a:bodyPr/>
                    <a:lstStyle/>
                    <a:p>
                      <a:r>
                        <a:rPr lang="en-GB" dirty="0">
                          <a:latin typeface="Aptos Serif" panose="02020604070405020304" pitchFamily="18" charset="0"/>
                        </a:rPr>
                        <a:t>MQ-2 Gas Sensor</a:t>
                      </a:r>
                    </a:p>
                  </a:txBody>
                  <a:tcPr/>
                </a:tc>
                <a:tc>
                  <a:txBody>
                    <a:bodyPr/>
                    <a:lstStyle/>
                    <a:p>
                      <a:r>
                        <a:rPr lang="en-GB" dirty="0">
                          <a:latin typeface="Aptos Serif" panose="02020604070405020304" pitchFamily="18" charset="0"/>
                        </a:rPr>
                        <a:t>1</a:t>
                      </a:r>
                    </a:p>
                  </a:txBody>
                  <a:tcPr/>
                </a:tc>
                <a:extLst>
                  <a:ext uri="{0D108BD9-81ED-4DB2-BD59-A6C34878D82A}">
                    <a16:rowId xmlns:a16="http://schemas.microsoft.com/office/drawing/2014/main" val="92757142"/>
                  </a:ext>
                </a:extLst>
              </a:tr>
              <a:tr h="370840">
                <a:tc>
                  <a:txBody>
                    <a:bodyPr/>
                    <a:lstStyle/>
                    <a:p>
                      <a:r>
                        <a:rPr lang="en-GB" dirty="0">
                          <a:latin typeface="Aptos Serif" panose="02020604070405020304" pitchFamily="18" charset="0"/>
                        </a:rPr>
                        <a:t>16×2 I2C LCD</a:t>
                      </a:r>
                    </a:p>
                  </a:txBody>
                  <a:tcPr/>
                </a:tc>
                <a:tc>
                  <a:txBody>
                    <a:bodyPr/>
                    <a:lstStyle/>
                    <a:p>
                      <a:r>
                        <a:rPr lang="en-GB" dirty="0">
                          <a:latin typeface="Aptos Serif" panose="02020604070405020304" pitchFamily="18" charset="0"/>
                        </a:rPr>
                        <a:t>1</a:t>
                      </a:r>
                    </a:p>
                  </a:txBody>
                  <a:tcPr/>
                </a:tc>
                <a:extLst>
                  <a:ext uri="{0D108BD9-81ED-4DB2-BD59-A6C34878D82A}">
                    <a16:rowId xmlns:a16="http://schemas.microsoft.com/office/drawing/2014/main" val="3001896208"/>
                  </a:ext>
                </a:extLst>
              </a:tr>
              <a:tr h="370840">
                <a:tc>
                  <a:txBody>
                    <a:bodyPr/>
                    <a:lstStyle/>
                    <a:p>
                      <a:r>
                        <a:rPr lang="en-GB" dirty="0">
                          <a:latin typeface="Aptos Serif" panose="02020604070405020304" pitchFamily="18" charset="0"/>
                        </a:rPr>
                        <a:t>Red LED</a:t>
                      </a:r>
                    </a:p>
                  </a:txBody>
                  <a:tcPr/>
                </a:tc>
                <a:tc>
                  <a:txBody>
                    <a:bodyPr/>
                    <a:lstStyle/>
                    <a:p>
                      <a:r>
                        <a:rPr lang="en-GB" dirty="0">
                          <a:latin typeface="Aptos Serif" panose="02020604070405020304" pitchFamily="18" charset="0"/>
                        </a:rPr>
                        <a:t>1</a:t>
                      </a:r>
                    </a:p>
                  </a:txBody>
                  <a:tcPr/>
                </a:tc>
                <a:extLst>
                  <a:ext uri="{0D108BD9-81ED-4DB2-BD59-A6C34878D82A}">
                    <a16:rowId xmlns:a16="http://schemas.microsoft.com/office/drawing/2014/main" val="835988343"/>
                  </a:ext>
                </a:extLst>
              </a:tr>
              <a:tr h="370840">
                <a:tc>
                  <a:txBody>
                    <a:bodyPr/>
                    <a:lstStyle/>
                    <a:p>
                      <a:r>
                        <a:rPr lang="en-GB" dirty="0">
                          <a:latin typeface="Aptos Serif" panose="02020604070405020304" pitchFamily="18" charset="0"/>
                        </a:rPr>
                        <a:t>Green LED</a:t>
                      </a:r>
                    </a:p>
                  </a:txBody>
                  <a:tcPr/>
                </a:tc>
                <a:tc>
                  <a:txBody>
                    <a:bodyPr/>
                    <a:lstStyle/>
                    <a:p>
                      <a:r>
                        <a:rPr lang="en-GB" dirty="0">
                          <a:latin typeface="Aptos Serif" panose="02020604070405020304" pitchFamily="18" charset="0"/>
                        </a:rPr>
                        <a:t>1</a:t>
                      </a:r>
                    </a:p>
                  </a:txBody>
                  <a:tcPr/>
                </a:tc>
                <a:extLst>
                  <a:ext uri="{0D108BD9-81ED-4DB2-BD59-A6C34878D82A}">
                    <a16:rowId xmlns:a16="http://schemas.microsoft.com/office/drawing/2014/main" val="2219664823"/>
                  </a:ext>
                </a:extLst>
              </a:tr>
              <a:tr h="370840">
                <a:tc>
                  <a:txBody>
                    <a:bodyPr/>
                    <a:lstStyle/>
                    <a:p>
                      <a:r>
                        <a:rPr lang="en-GB" dirty="0">
                          <a:latin typeface="Aptos Serif" panose="02020604070405020304" pitchFamily="18" charset="0"/>
                        </a:rPr>
                        <a:t>Buzzer</a:t>
                      </a:r>
                    </a:p>
                  </a:txBody>
                  <a:tcPr/>
                </a:tc>
                <a:tc>
                  <a:txBody>
                    <a:bodyPr/>
                    <a:lstStyle/>
                    <a:p>
                      <a:r>
                        <a:rPr lang="en-GB" dirty="0">
                          <a:latin typeface="Aptos Serif" panose="02020604070405020304" pitchFamily="18" charset="0"/>
                        </a:rPr>
                        <a:t>1</a:t>
                      </a:r>
                    </a:p>
                  </a:txBody>
                  <a:tcPr/>
                </a:tc>
                <a:extLst>
                  <a:ext uri="{0D108BD9-81ED-4DB2-BD59-A6C34878D82A}">
                    <a16:rowId xmlns:a16="http://schemas.microsoft.com/office/drawing/2014/main" val="2163778181"/>
                  </a:ext>
                </a:extLst>
              </a:tr>
              <a:tr h="370840">
                <a:tc>
                  <a:txBody>
                    <a:bodyPr/>
                    <a:lstStyle/>
                    <a:p>
                      <a:r>
                        <a:rPr lang="en-GB" dirty="0">
                          <a:latin typeface="Aptos Serif" panose="02020604070405020304" pitchFamily="18" charset="0"/>
                        </a:rPr>
                        <a:t>220 Ω Resistors</a:t>
                      </a:r>
                    </a:p>
                  </a:txBody>
                  <a:tcPr/>
                </a:tc>
                <a:tc>
                  <a:txBody>
                    <a:bodyPr/>
                    <a:lstStyle/>
                    <a:p>
                      <a:r>
                        <a:rPr lang="en-GB" dirty="0">
                          <a:latin typeface="Aptos Serif" panose="02020604070405020304" pitchFamily="18" charset="0"/>
                        </a:rPr>
                        <a:t>2</a:t>
                      </a:r>
                    </a:p>
                  </a:txBody>
                  <a:tcPr/>
                </a:tc>
                <a:extLst>
                  <a:ext uri="{0D108BD9-81ED-4DB2-BD59-A6C34878D82A}">
                    <a16:rowId xmlns:a16="http://schemas.microsoft.com/office/drawing/2014/main" val="2092640905"/>
                  </a:ext>
                </a:extLst>
              </a:tr>
              <a:tr h="370840">
                <a:tc>
                  <a:txBody>
                    <a:bodyPr/>
                    <a:lstStyle/>
                    <a:p>
                      <a:r>
                        <a:rPr lang="en-GB" dirty="0">
                          <a:latin typeface="Aptos Serif" panose="02020604070405020304" pitchFamily="18" charset="0"/>
                        </a:rPr>
                        <a:t>Jump Wires</a:t>
                      </a:r>
                    </a:p>
                  </a:txBody>
                  <a:tcPr/>
                </a:tc>
                <a:tc>
                  <a:txBody>
                    <a:bodyPr/>
                    <a:lstStyle/>
                    <a:p>
                      <a:r>
                        <a:rPr lang="en-GB" dirty="0">
                          <a:latin typeface="Aptos Serif" panose="02020604070405020304" pitchFamily="18" charset="0"/>
                        </a:rPr>
                        <a:t>As required</a:t>
                      </a:r>
                    </a:p>
                  </a:txBody>
                  <a:tcPr/>
                </a:tc>
                <a:extLst>
                  <a:ext uri="{0D108BD9-81ED-4DB2-BD59-A6C34878D82A}">
                    <a16:rowId xmlns:a16="http://schemas.microsoft.com/office/drawing/2014/main" val="3429042897"/>
                  </a:ext>
                </a:extLst>
              </a:tr>
              <a:tr h="370840">
                <a:tc>
                  <a:txBody>
                    <a:bodyPr/>
                    <a:lstStyle/>
                    <a:p>
                      <a:r>
                        <a:rPr lang="en-GB" dirty="0" err="1">
                          <a:latin typeface="Aptos Serif" panose="02020604070405020304" pitchFamily="18" charset="0"/>
                        </a:rPr>
                        <a:t>Wokwi</a:t>
                      </a:r>
                      <a:r>
                        <a:rPr lang="en-GB" dirty="0">
                          <a:latin typeface="Aptos Serif" panose="02020604070405020304" pitchFamily="18" charset="0"/>
                        </a:rPr>
                        <a:t> Simulator</a:t>
                      </a:r>
                    </a:p>
                  </a:txBody>
                  <a:tcPr/>
                </a:tc>
                <a:tc>
                  <a:txBody>
                    <a:bodyPr/>
                    <a:lstStyle/>
                    <a:p>
                      <a:r>
                        <a:rPr lang="en-GB" dirty="0">
                          <a:latin typeface="Aptos Serif" panose="02020604070405020304" pitchFamily="18" charset="0"/>
                        </a:rPr>
                        <a:t>1</a:t>
                      </a:r>
                    </a:p>
                  </a:txBody>
                  <a:tcPr/>
                </a:tc>
                <a:extLst>
                  <a:ext uri="{0D108BD9-81ED-4DB2-BD59-A6C34878D82A}">
                    <a16:rowId xmlns:a16="http://schemas.microsoft.com/office/drawing/2014/main" val="2052810187"/>
                  </a:ext>
                </a:extLst>
              </a:tr>
              <a:tr h="370840">
                <a:tc>
                  <a:txBody>
                    <a:bodyPr/>
                    <a:lstStyle/>
                    <a:p>
                      <a:r>
                        <a:rPr lang="en-GB" dirty="0" err="1">
                          <a:latin typeface="Aptos Serif" panose="02020604070405020304" pitchFamily="18" charset="0"/>
                        </a:rPr>
                        <a:t>ThingSpeak</a:t>
                      </a:r>
                      <a:r>
                        <a:rPr lang="en-GB" dirty="0">
                          <a:latin typeface="Aptos Serif" panose="02020604070405020304" pitchFamily="18" charset="0"/>
                        </a:rPr>
                        <a:t> Platform</a:t>
                      </a:r>
                    </a:p>
                  </a:txBody>
                  <a:tcPr/>
                </a:tc>
                <a:tc>
                  <a:txBody>
                    <a:bodyPr/>
                    <a:lstStyle/>
                    <a:p>
                      <a:r>
                        <a:rPr lang="en-GB" dirty="0">
                          <a:latin typeface="Aptos Serif" panose="02020604070405020304" pitchFamily="18" charset="0"/>
                        </a:rPr>
                        <a:t>1</a:t>
                      </a:r>
                    </a:p>
                  </a:txBody>
                  <a:tcPr/>
                </a:tc>
                <a:extLst>
                  <a:ext uri="{0D108BD9-81ED-4DB2-BD59-A6C34878D82A}">
                    <a16:rowId xmlns:a16="http://schemas.microsoft.com/office/drawing/2014/main" val="961419074"/>
                  </a:ext>
                </a:extLst>
              </a:tr>
            </a:tbl>
          </a:graphicData>
        </a:graphic>
      </p:graphicFrame>
    </p:spTree>
    <p:extLst>
      <p:ext uri="{BB962C8B-B14F-4D97-AF65-F5344CB8AC3E}">
        <p14:creationId xmlns:p14="http://schemas.microsoft.com/office/powerpoint/2010/main" val="1596897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1A0E0-BBD2-DC10-F0C2-7CED1757CB4B}"/>
              </a:ext>
            </a:extLst>
          </p:cNvPr>
          <p:cNvSpPr>
            <a:spLocks noGrp="1"/>
          </p:cNvSpPr>
          <p:nvPr>
            <p:ph type="title"/>
          </p:nvPr>
        </p:nvSpPr>
        <p:spPr/>
        <p:txBody>
          <a:bodyPr/>
          <a:lstStyle/>
          <a:p>
            <a:r>
              <a:rPr lang="en-GB" dirty="0">
                <a:latin typeface="Aptos Slab SemiBold" panose="020B0004020202020204" pitchFamily="34" charset="0"/>
              </a:rPr>
              <a:t>COMPONENTS USED</a:t>
            </a:r>
          </a:p>
        </p:txBody>
      </p:sp>
      <p:pic>
        <p:nvPicPr>
          <p:cNvPr id="5" name="Content Placeholder 4">
            <a:extLst>
              <a:ext uri="{FF2B5EF4-FFF2-40B4-BE49-F238E27FC236}">
                <a16:creationId xmlns:a16="http://schemas.microsoft.com/office/drawing/2014/main" id="{1907CB16-6A10-A9FF-824E-C318E122D2AC}"/>
              </a:ext>
            </a:extLst>
          </p:cNvPr>
          <p:cNvPicPr>
            <a:picLocks noGrp="1" noChangeAspect="1"/>
          </p:cNvPicPr>
          <p:nvPr>
            <p:ph idx="1"/>
          </p:nvPr>
        </p:nvPicPr>
        <p:blipFill>
          <a:blip r:embed="rId2"/>
          <a:stretch>
            <a:fillRect/>
          </a:stretch>
        </p:blipFill>
        <p:spPr>
          <a:xfrm>
            <a:off x="1383989" y="1940572"/>
            <a:ext cx="1734992" cy="3098200"/>
          </a:xfrm>
          <a:prstGeom prst="rect">
            <a:avLst/>
          </a:prstGeom>
        </p:spPr>
      </p:pic>
      <p:sp>
        <p:nvSpPr>
          <p:cNvPr id="7" name="TextBox 6">
            <a:extLst>
              <a:ext uri="{FF2B5EF4-FFF2-40B4-BE49-F238E27FC236}">
                <a16:creationId xmlns:a16="http://schemas.microsoft.com/office/drawing/2014/main" id="{48371799-41C8-5EFF-10F9-F79ADD9BAF22}"/>
              </a:ext>
            </a:extLst>
          </p:cNvPr>
          <p:cNvSpPr txBox="1"/>
          <p:nvPr/>
        </p:nvSpPr>
        <p:spPr>
          <a:xfrm>
            <a:off x="3118981" y="1940572"/>
            <a:ext cx="5132541" cy="1477328"/>
          </a:xfrm>
          <a:prstGeom prst="rect">
            <a:avLst/>
          </a:prstGeom>
          <a:noFill/>
        </p:spPr>
        <p:txBody>
          <a:bodyPr wrap="square">
            <a:spAutoFit/>
          </a:bodyPr>
          <a:lstStyle/>
          <a:p>
            <a:r>
              <a:rPr lang="en-GB" b="0" i="0" dirty="0">
                <a:solidFill>
                  <a:srgbClr val="1C1E21"/>
                </a:solidFill>
                <a:effectLst/>
                <a:latin typeface="system-ui"/>
              </a:rPr>
              <a:t>The </a:t>
            </a:r>
            <a:r>
              <a:rPr lang="en-GB" b="1" i="0" dirty="0">
                <a:solidFill>
                  <a:srgbClr val="1C1E21"/>
                </a:solidFill>
                <a:effectLst/>
                <a:latin typeface="system-ui"/>
              </a:rPr>
              <a:t>ESP32</a:t>
            </a:r>
            <a:r>
              <a:rPr lang="en-GB" b="0" i="0" dirty="0">
                <a:solidFill>
                  <a:srgbClr val="1C1E21"/>
                </a:solidFill>
                <a:effectLst/>
                <a:latin typeface="system-ui"/>
              </a:rPr>
              <a:t> is a popular </a:t>
            </a:r>
            <a:r>
              <a:rPr lang="en-GB" b="0" i="0" dirty="0" err="1">
                <a:solidFill>
                  <a:srgbClr val="1C1E21"/>
                </a:solidFill>
                <a:effectLst/>
                <a:latin typeface="system-ui"/>
              </a:rPr>
              <a:t>WiFi</a:t>
            </a:r>
            <a:r>
              <a:rPr lang="en-GB" b="0" i="0" dirty="0">
                <a:solidFill>
                  <a:srgbClr val="1C1E21"/>
                </a:solidFill>
                <a:effectLst/>
                <a:latin typeface="system-ui"/>
              </a:rPr>
              <a:t> and Bluetooth-enabled microcontroller, widely used for IoT Projects. </a:t>
            </a:r>
            <a:r>
              <a:rPr lang="en-GB" b="0" i="0" dirty="0" err="1">
                <a:solidFill>
                  <a:srgbClr val="1C1E21"/>
                </a:solidFill>
                <a:effectLst/>
                <a:latin typeface="system-ui"/>
              </a:rPr>
              <a:t>Wokwi</a:t>
            </a:r>
            <a:r>
              <a:rPr lang="en-GB" b="0" i="0" dirty="0">
                <a:solidFill>
                  <a:srgbClr val="1C1E21"/>
                </a:solidFill>
                <a:effectLst/>
                <a:latin typeface="system-ui"/>
              </a:rPr>
              <a:t> simulates the ESP32, ESP32-C3, ESP32-S2, ESP32-S3, ESP32-C5 (alpha), ESP32-C6, ESP32-C61, ESP32-H2, ESP32-S31 (alpha), and ESP32-P4 (beta).</a:t>
            </a:r>
            <a:endParaRPr lang="en-GB" dirty="0"/>
          </a:p>
        </p:txBody>
      </p:sp>
      <p:pic>
        <p:nvPicPr>
          <p:cNvPr id="9" name="Picture 8">
            <a:extLst>
              <a:ext uri="{FF2B5EF4-FFF2-40B4-BE49-F238E27FC236}">
                <a16:creationId xmlns:a16="http://schemas.microsoft.com/office/drawing/2014/main" id="{F76202C6-64E5-A533-896A-A83508594A41}"/>
              </a:ext>
            </a:extLst>
          </p:cNvPr>
          <p:cNvPicPr>
            <a:picLocks noChangeAspect="1"/>
          </p:cNvPicPr>
          <p:nvPr/>
        </p:nvPicPr>
        <p:blipFill>
          <a:blip r:embed="rId3"/>
          <a:stretch>
            <a:fillRect/>
          </a:stretch>
        </p:blipFill>
        <p:spPr>
          <a:xfrm>
            <a:off x="8045504" y="3842502"/>
            <a:ext cx="2940201" cy="1314518"/>
          </a:xfrm>
          <a:prstGeom prst="rect">
            <a:avLst/>
          </a:prstGeom>
        </p:spPr>
      </p:pic>
      <p:sp>
        <p:nvSpPr>
          <p:cNvPr id="11" name="TextBox 10">
            <a:extLst>
              <a:ext uri="{FF2B5EF4-FFF2-40B4-BE49-F238E27FC236}">
                <a16:creationId xmlns:a16="http://schemas.microsoft.com/office/drawing/2014/main" id="{B2A6962A-0D72-05DB-BCB4-39D47B555F77}"/>
              </a:ext>
            </a:extLst>
          </p:cNvPr>
          <p:cNvSpPr txBox="1"/>
          <p:nvPr/>
        </p:nvSpPr>
        <p:spPr>
          <a:xfrm>
            <a:off x="3936826" y="4787688"/>
            <a:ext cx="4318348" cy="369332"/>
          </a:xfrm>
          <a:prstGeom prst="rect">
            <a:avLst/>
          </a:prstGeom>
          <a:noFill/>
        </p:spPr>
        <p:txBody>
          <a:bodyPr wrap="square">
            <a:spAutoFit/>
          </a:bodyPr>
          <a:lstStyle/>
          <a:p>
            <a:pPr algn="l">
              <a:spcAft>
                <a:spcPts val="1500"/>
              </a:spcAft>
              <a:buNone/>
            </a:pPr>
            <a:r>
              <a:rPr lang="en-GB" b="0" i="0" dirty="0">
                <a:solidFill>
                  <a:srgbClr val="1C1E21"/>
                </a:solidFill>
                <a:effectLst/>
                <a:latin typeface="system-ui"/>
              </a:rPr>
              <a:t>An </a:t>
            </a:r>
            <a:r>
              <a:rPr lang="en-GB" b="1" i="0" dirty="0">
                <a:solidFill>
                  <a:srgbClr val="1C1E21"/>
                </a:solidFill>
                <a:effectLst/>
                <a:latin typeface="system-ui"/>
              </a:rPr>
              <a:t>LCD</a:t>
            </a:r>
            <a:r>
              <a:rPr lang="en-GB" b="0" i="0" dirty="0">
                <a:solidFill>
                  <a:srgbClr val="1C1E21"/>
                </a:solidFill>
                <a:effectLst/>
                <a:latin typeface="system-ui"/>
              </a:rPr>
              <a:t> with 2 lines, 16 characters per line.</a:t>
            </a:r>
          </a:p>
        </p:txBody>
      </p:sp>
    </p:spTree>
    <p:extLst>
      <p:ext uri="{BB962C8B-B14F-4D97-AF65-F5344CB8AC3E}">
        <p14:creationId xmlns:p14="http://schemas.microsoft.com/office/powerpoint/2010/main" val="2286673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C82CE-86AF-5037-315F-19919E7DD95A}"/>
              </a:ext>
            </a:extLst>
          </p:cNvPr>
          <p:cNvSpPr>
            <a:spLocks noGrp="1"/>
          </p:cNvSpPr>
          <p:nvPr>
            <p:ph type="title"/>
          </p:nvPr>
        </p:nvSpPr>
        <p:spPr/>
        <p:txBody>
          <a:bodyPr/>
          <a:lstStyle/>
          <a:p>
            <a:r>
              <a:rPr lang="en-GB" dirty="0">
                <a:latin typeface="Aptos Slab SemiBold" panose="020B0004020202020204" pitchFamily="34" charset="0"/>
              </a:rPr>
              <a:t>COMPONENTS USED</a:t>
            </a:r>
            <a:endParaRPr lang="en-GB" dirty="0"/>
          </a:p>
        </p:txBody>
      </p:sp>
      <p:pic>
        <p:nvPicPr>
          <p:cNvPr id="5" name="Content Placeholder 4">
            <a:extLst>
              <a:ext uri="{FF2B5EF4-FFF2-40B4-BE49-F238E27FC236}">
                <a16:creationId xmlns:a16="http://schemas.microsoft.com/office/drawing/2014/main" id="{BEDADEF6-2B93-014E-13EC-6A020D2C9F72}"/>
              </a:ext>
            </a:extLst>
          </p:cNvPr>
          <p:cNvPicPr>
            <a:picLocks noGrp="1" noChangeAspect="1"/>
          </p:cNvPicPr>
          <p:nvPr>
            <p:ph idx="1"/>
          </p:nvPr>
        </p:nvPicPr>
        <p:blipFill>
          <a:blip r:embed="rId2"/>
          <a:stretch>
            <a:fillRect/>
          </a:stretch>
        </p:blipFill>
        <p:spPr>
          <a:xfrm>
            <a:off x="957548" y="2022271"/>
            <a:ext cx="1948489" cy="2109373"/>
          </a:xfrm>
          <a:prstGeom prst="rect">
            <a:avLst/>
          </a:prstGeom>
        </p:spPr>
      </p:pic>
      <p:sp>
        <p:nvSpPr>
          <p:cNvPr id="7" name="TextBox 6">
            <a:extLst>
              <a:ext uri="{FF2B5EF4-FFF2-40B4-BE49-F238E27FC236}">
                <a16:creationId xmlns:a16="http://schemas.microsoft.com/office/drawing/2014/main" id="{F4F5732D-0011-9114-E898-0F9FE4FD90DE}"/>
              </a:ext>
            </a:extLst>
          </p:cNvPr>
          <p:cNvSpPr txBox="1"/>
          <p:nvPr/>
        </p:nvSpPr>
        <p:spPr>
          <a:xfrm>
            <a:off x="2906037" y="2022271"/>
            <a:ext cx="6914368" cy="1200329"/>
          </a:xfrm>
          <a:prstGeom prst="rect">
            <a:avLst/>
          </a:prstGeom>
          <a:noFill/>
        </p:spPr>
        <p:txBody>
          <a:bodyPr wrap="square">
            <a:spAutoFit/>
          </a:bodyPr>
          <a:lstStyle/>
          <a:p>
            <a:r>
              <a:rPr lang="en-GB" dirty="0"/>
              <a:t>The </a:t>
            </a:r>
            <a:r>
              <a:rPr lang="en-GB" b="1" dirty="0"/>
              <a:t>piezoelectric buzzer </a:t>
            </a:r>
            <a:r>
              <a:rPr lang="en-GB" dirty="0"/>
              <a:t>is used to provide an audible warning whenever a gas leak is detected. In the </a:t>
            </a:r>
            <a:r>
              <a:rPr lang="en-GB" dirty="0" err="1"/>
              <a:t>Wokwi</a:t>
            </a:r>
            <a:r>
              <a:rPr lang="en-GB" dirty="0"/>
              <a:t> simulation, it is activated by the ESP32 when the gas concentration surpasses the safety limit, alerting nearby users to a potentially hazardous condition.</a:t>
            </a:r>
          </a:p>
        </p:txBody>
      </p:sp>
      <p:pic>
        <p:nvPicPr>
          <p:cNvPr id="9" name="Picture 8">
            <a:extLst>
              <a:ext uri="{FF2B5EF4-FFF2-40B4-BE49-F238E27FC236}">
                <a16:creationId xmlns:a16="http://schemas.microsoft.com/office/drawing/2014/main" id="{3AB1BECB-7C98-75CA-461D-C340DC23B874}"/>
              </a:ext>
            </a:extLst>
          </p:cNvPr>
          <p:cNvPicPr>
            <a:picLocks noChangeAspect="1"/>
          </p:cNvPicPr>
          <p:nvPr/>
        </p:nvPicPr>
        <p:blipFill>
          <a:blip r:embed="rId3"/>
          <a:stretch>
            <a:fillRect/>
          </a:stretch>
        </p:blipFill>
        <p:spPr>
          <a:xfrm>
            <a:off x="8145376" y="3762312"/>
            <a:ext cx="3243585" cy="1636405"/>
          </a:xfrm>
          <a:prstGeom prst="rect">
            <a:avLst/>
          </a:prstGeom>
        </p:spPr>
      </p:pic>
      <p:sp>
        <p:nvSpPr>
          <p:cNvPr id="11" name="TextBox 10">
            <a:extLst>
              <a:ext uri="{FF2B5EF4-FFF2-40B4-BE49-F238E27FC236}">
                <a16:creationId xmlns:a16="http://schemas.microsoft.com/office/drawing/2014/main" id="{CCE2C20B-8FDB-A9D0-892B-03495AAE5062}"/>
              </a:ext>
            </a:extLst>
          </p:cNvPr>
          <p:cNvSpPr txBox="1"/>
          <p:nvPr/>
        </p:nvSpPr>
        <p:spPr>
          <a:xfrm>
            <a:off x="2345498" y="4466398"/>
            <a:ext cx="6093912" cy="923330"/>
          </a:xfrm>
          <a:prstGeom prst="rect">
            <a:avLst/>
          </a:prstGeom>
          <a:noFill/>
        </p:spPr>
        <p:txBody>
          <a:bodyPr wrap="square">
            <a:spAutoFit/>
          </a:bodyPr>
          <a:lstStyle/>
          <a:p>
            <a:r>
              <a:rPr lang="en-GB" dirty="0"/>
              <a:t>The </a:t>
            </a:r>
            <a:r>
              <a:rPr lang="en-GB" b="1" dirty="0"/>
              <a:t>MQ-2 gas sensor module</a:t>
            </a:r>
            <a:r>
              <a:rPr lang="en-GB" dirty="0"/>
              <a:t> is used in </a:t>
            </a:r>
            <a:r>
              <a:rPr lang="en-GB" dirty="0" err="1"/>
              <a:t>Wokwi</a:t>
            </a:r>
            <a:r>
              <a:rPr lang="en-GB" dirty="0"/>
              <a:t> to simulate the detection of combustible gases and smoke by producing an </a:t>
            </a:r>
            <a:r>
              <a:rPr lang="en-GB" dirty="0" err="1"/>
              <a:t>analog</a:t>
            </a:r>
            <a:r>
              <a:rPr lang="en-GB" dirty="0"/>
              <a:t> output proportional to the gas concentration.</a:t>
            </a:r>
          </a:p>
        </p:txBody>
      </p:sp>
    </p:spTree>
    <p:extLst>
      <p:ext uri="{BB962C8B-B14F-4D97-AF65-F5344CB8AC3E}">
        <p14:creationId xmlns:p14="http://schemas.microsoft.com/office/powerpoint/2010/main" val="495708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050BA-0D1F-6012-EA34-F4131C04456F}"/>
              </a:ext>
            </a:extLst>
          </p:cNvPr>
          <p:cNvSpPr>
            <a:spLocks noGrp="1"/>
          </p:cNvSpPr>
          <p:nvPr>
            <p:ph type="title"/>
          </p:nvPr>
        </p:nvSpPr>
        <p:spPr/>
        <p:txBody>
          <a:bodyPr/>
          <a:lstStyle/>
          <a:p>
            <a:r>
              <a:rPr lang="en-GB" dirty="0">
                <a:latin typeface="Aptos Slab SemiBold" panose="020B0004020202020204" pitchFamily="34" charset="0"/>
              </a:rPr>
              <a:t>COMPONENTS USED</a:t>
            </a:r>
            <a:endParaRPr lang="en-GB" dirty="0"/>
          </a:p>
        </p:txBody>
      </p:sp>
      <p:pic>
        <p:nvPicPr>
          <p:cNvPr id="5" name="Content Placeholder 4">
            <a:extLst>
              <a:ext uri="{FF2B5EF4-FFF2-40B4-BE49-F238E27FC236}">
                <a16:creationId xmlns:a16="http://schemas.microsoft.com/office/drawing/2014/main" id="{1C6D2690-904C-51EB-B6FE-5B56E5D05D1E}"/>
              </a:ext>
            </a:extLst>
          </p:cNvPr>
          <p:cNvPicPr>
            <a:picLocks noGrp="1" noChangeAspect="1"/>
          </p:cNvPicPr>
          <p:nvPr>
            <p:ph idx="1"/>
          </p:nvPr>
        </p:nvPicPr>
        <p:blipFill>
          <a:blip r:embed="rId2"/>
          <a:stretch>
            <a:fillRect/>
          </a:stretch>
        </p:blipFill>
        <p:spPr>
          <a:xfrm>
            <a:off x="962298" y="1910220"/>
            <a:ext cx="1956266" cy="2771379"/>
          </a:xfrm>
          <a:prstGeom prst="rect">
            <a:avLst/>
          </a:prstGeom>
        </p:spPr>
      </p:pic>
      <p:sp>
        <p:nvSpPr>
          <p:cNvPr id="7" name="TextBox 6">
            <a:extLst>
              <a:ext uri="{FF2B5EF4-FFF2-40B4-BE49-F238E27FC236}">
                <a16:creationId xmlns:a16="http://schemas.microsoft.com/office/drawing/2014/main" id="{AEBCDCD8-5B57-D28B-C939-D6677BD292FB}"/>
              </a:ext>
            </a:extLst>
          </p:cNvPr>
          <p:cNvSpPr txBox="1"/>
          <p:nvPr/>
        </p:nvSpPr>
        <p:spPr>
          <a:xfrm>
            <a:off x="2596019" y="2295487"/>
            <a:ext cx="6093912" cy="1200329"/>
          </a:xfrm>
          <a:prstGeom prst="rect">
            <a:avLst/>
          </a:prstGeom>
          <a:noFill/>
        </p:spPr>
        <p:txBody>
          <a:bodyPr wrap="square">
            <a:spAutoFit/>
          </a:bodyPr>
          <a:lstStyle/>
          <a:p>
            <a:r>
              <a:rPr lang="en-GB" dirty="0"/>
              <a:t>The </a:t>
            </a:r>
            <a:r>
              <a:rPr lang="en-GB" b="1" dirty="0"/>
              <a:t>standard 5 mm LED</a:t>
            </a:r>
            <a:r>
              <a:rPr lang="en-GB" dirty="0"/>
              <a:t> serves as a visual indicator of the system status. In this project, the green LED indicates normal operating conditions, while the red LED lights up when a gas leak is detected.</a:t>
            </a:r>
          </a:p>
        </p:txBody>
      </p:sp>
      <p:pic>
        <p:nvPicPr>
          <p:cNvPr id="9" name="Picture 8">
            <a:extLst>
              <a:ext uri="{FF2B5EF4-FFF2-40B4-BE49-F238E27FC236}">
                <a16:creationId xmlns:a16="http://schemas.microsoft.com/office/drawing/2014/main" id="{75F69C42-ABCA-CE42-C22E-5B7E90BBF476}"/>
              </a:ext>
            </a:extLst>
          </p:cNvPr>
          <p:cNvPicPr>
            <a:picLocks noChangeAspect="1"/>
          </p:cNvPicPr>
          <p:nvPr/>
        </p:nvPicPr>
        <p:blipFill>
          <a:blip r:embed="rId3"/>
          <a:stretch>
            <a:fillRect/>
          </a:stretch>
        </p:blipFill>
        <p:spPr>
          <a:xfrm>
            <a:off x="7250365" y="4597410"/>
            <a:ext cx="3456724" cy="697686"/>
          </a:xfrm>
          <a:prstGeom prst="rect">
            <a:avLst/>
          </a:prstGeom>
        </p:spPr>
      </p:pic>
      <p:sp>
        <p:nvSpPr>
          <p:cNvPr id="11" name="TextBox 10">
            <a:extLst>
              <a:ext uri="{FF2B5EF4-FFF2-40B4-BE49-F238E27FC236}">
                <a16:creationId xmlns:a16="http://schemas.microsoft.com/office/drawing/2014/main" id="{3E8EC5EB-2B61-B08F-E3DE-1B6839057EC9}"/>
              </a:ext>
            </a:extLst>
          </p:cNvPr>
          <p:cNvSpPr txBox="1"/>
          <p:nvPr/>
        </p:nvSpPr>
        <p:spPr>
          <a:xfrm>
            <a:off x="1894680" y="4597410"/>
            <a:ext cx="6093912" cy="646331"/>
          </a:xfrm>
          <a:prstGeom prst="rect">
            <a:avLst/>
          </a:prstGeom>
          <a:noFill/>
        </p:spPr>
        <p:txBody>
          <a:bodyPr wrap="square">
            <a:spAutoFit/>
          </a:bodyPr>
          <a:lstStyle/>
          <a:p>
            <a:r>
              <a:rPr lang="en-GB" b="1" dirty="0"/>
              <a:t>A resistor </a:t>
            </a:r>
            <a:r>
              <a:rPr lang="en-GB" dirty="0"/>
              <a:t>is used to limit the amount of current flowing through the LEDs, preventing damage to the components.</a:t>
            </a:r>
          </a:p>
        </p:txBody>
      </p:sp>
    </p:spTree>
    <p:extLst>
      <p:ext uri="{BB962C8B-B14F-4D97-AF65-F5344CB8AC3E}">
        <p14:creationId xmlns:p14="http://schemas.microsoft.com/office/powerpoint/2010/main" val="283350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F2D33-7668-DE6C-5C99-4467C2DC35D1}"/>
              </a:ext>
            </a:extLst>
          </p:cNvPr>
          <p:cNvSpPr>
            <a:spLocks noGrp="1"/>
          </p:cNvSpPr>
          <p:nvPr>
            <p:ph type="title"/>
          </p:nvPr>
        </p:nvSpPr>
        <p:spPr/>
        <p:txBody>
          <a:bodyPr/>
          <a:lstStyle/>
          <a:p>
            <a:r>
              <a:rPr lang="en-GB" dirty="0">
                <a:latin typeface="Aptos Slab SemiBold" panose="020B0004020202020204" pitchFamily="34" charset="0"/>
              </a:rPr>
              <a:t>CIRCUIT DESCRIPTION</a:t>
            </a:r>
          </a:p>
        </p:txBody>
      </p:sp>
      <p:sp>
        <p:nvSpPr>
          <p:cNvPr id="3" name="Content Placeholder 2">
            <a:extLst>
              <a:ext uri="{FF2B5EF4-FFF2-40B4-BE49-F238E27FC236}">
                <a16:creationId xmlns:a16="http://schemas.microsoft.com/office/drawing/2014/main" id="{94031571-AAB2-4051-5208-8EFE8B518210}"/>
              </a:ext>
            </a:extLst>
          </p:cNvPr>
          <p:cNvSpPr>
            <a:spLocks noGrp="1"/>
          </p:cNvSpPr>
          <p:nvPr>
            <p:ph idx="1"/>
          </p:nvPr>
        </p:nvSpPr>
        <p:spPr/>
        <p:txBody>
          <a:bodyPr numCol="1" anchor="ctr">
            <a:normAutofit fontScale="92500" lnSpcReduction="20000"/>
          </a:bodyPr>
          <a:lstStyle/>
          <a:p>
            <a:pPr>
              <a:buFont typeface="Wingdings" panose="05000000000000000000" pitchFamily="2" charset="2"/>
              <a:buChar char="q"/>
            </a:pPr>
            <a:r>
              <a:rPr lang="en-GB" dirty="0"/>
              <a:t> </a:t>
            </a:r>
            <a:r>
              <a:rPr lang="en-GB" dirty="0">
                <a:latin typeface="Aptos Serif" panose="02020604070405020304" pitchFamily="18" charset="0"/>
                <a:cs typeface="Aptos Serif" panose="02020604070405020304" pitchFamily="18" charset="0"/>
              </a:rPr>
              <a:t>MQ-2    AOUT	→	 GPIO34 </a:t>
            </a:r>
          </a:p>
          <a:p>
            <a:pPr>
              <a:buFont typeface="Wingdings" panose="05000000000000000000" pitchFamily="2" charset="2"/>
              <a:buChar char="q"/>
            </a:pPr>
            <a:r>
              <a:rPr lang="en-GB" dirty="0">
                <a:latin typeface="Aptos Serif" panose="02020604070405020304" pitchFamily="18" charset="0"/>
                <a:cs typeface="Aptos Serif" panose="02020604070405020304" pitchFamily="18" charset="0"/>
              </a:rPr>
              <a:t>MQ-2 	   VCC	 →	 5V </a:t>
            </a:r>
          </a:p>
          <a:p>
            <a:pPr>
              <a:buFont typeface="Wingdings" panose="05000000000000000000" pitchFamily="2" charset="2"/>
              <a:buChar char="q"/>
            </a:pPr>
            <a:r>
              <a:rPr lang="en-GB" dirty="0">
                <a:latin typeface="Aptos Serif" panose="02020604070405020304" pitchFamily="18" charset="0"/>
                <a:cs typeface="Aptos Serif" panose="02020604070405020304" pitchFamily="18" charset="0"/>
              </a:rPr>
              <a:t>MQ-2	   GND	 → 	GND </a:t>
            </a:r>
          </a:p>
          <a:p>
            <a:pPr>
              <a:buFont typeface="Wingdings" panose="05000000000000000000" pitchFamily="2" charset="2"/>
              <a:buChar char="q"/>
            </a:pPr>
            <a:r>
              <a:rPr lang="en-GB" dirty="0">
                <a:latin typeface="Aptos Serif" panose="02020604070405020304" pitchFamily="18" charset="0"/>
                <a:cs typeface="Aptos Serif" panose="02020604070405020304" pitchFamily="18" charset="0"/>
              </a:rPr>
              <a:t>Red  LED	 →	 GPIO19 </a:t>
            </a:r>
          </a:p>
          <a:p>
            <a:pPr>
              <a:buFont typeface="Wingdings" panose="05000000000000000000" pitchFamily="2" charset="2"/>
              <a:buChar char="q"/>
            </a:pPr>
            <a:r>
              <a:rPr lang="en-GB" dirty="0">
                <a:latin typeface="Aptos Serif" panose="02020604070405020304" pitchFamily="18" charset="0"/>
                <a:cs typeface="Aptos Serif" panose="02020604070405020304" pitchFamily="18" charset="0"/>
              </a:rPr>
              <a:t>Green  LED 	→ 	GPIO18 </a:t>
            </a:r>
          </a:p>
          <a:p>
            <a:pPr>
              <a:buFont typeface="Wingdings" panose="05000000000000000000" pitchFamily="2" charset="2"/>
              <a:buChar char="q"/>
            </a:pPr>
            <a:r>
              <a:rPr lang="en-GB" dirty="0">
                <a:latin typeface="Aptos Serif" panose="02020604070405020304" pitchFamily="18" charset="0"/>
                <a:cs typeface="Aptos Serif" panose="02020604070405020304" pitchFamily="18" charset="0"/>
              </a:rPr>
              <a:t>Buzzer	 →	 GPIO23 </a:t>
            </a:r>
          </a:p>
          <a:p>
            <a:pPr>
              <a:buFont typeface="Wingdings" panose="05000000000000000000" pitchFamily="2" charset="2"/>
              <a:buChar char="q"/>
            </a:pPr>
            <a:r>
              <a:rPr lang="en-GB" dirty="0">
                <a:latin typeface="Aptos Serif" panose="02020604070405020304" pitchFamily="18" charset="0"/>
                <a:cs typeface="Aptos Serif" panose="02020604070405020304" pitchFamily="18" charset="0"/>
              </a:rPr>
              <a:t>LCD    SDA	 →	 GPIO21 </a:t>
            </a:r>
          </a:p>
          <a:p>
            <a:pPr>
              <a:buFont typeface="Wingdings" panose="05000000000000000000" pitchFamily="2" charset="2"/>
              <a:buChar char="q"/>
            </a:pPr>
            <a:r>
              <a:rPr lang="en-GB" dirty="0">
                <a:latin typeface="Aptos Serif" panose="02020604070405020304" pitchFamily="18" charset="0"/>
                <a:cs typeface="Aptos Serif" panose="02020604070405020304" pitchFamily="18" charset="0"/>
              </a:rPr>
              <a:t>LCD    SCL 	→ 	GPIO22 </a:t>
            </a:r>
          </a:p>
          <a:p>
            <a:pPr>
              <a:buFont typeface="Wingdings" panose="05000000000000000000" pitchFamily="2" charset="2"/>
              <a:buChar char="q"/>
            </a:pPr>
            <a:r>
              <a:rPr lang="en-GB" dirty="0">
                <a:latin typeface="Aptos Serif" panose="02020604070405020304" pitchFamily="18" charset="0"/>
                <a:cs typeface="Aptos Serif" panose="02020604070405020304" pitchFamily="18" charset="0"/>
              </a:rPr>
              <a:t>LCD    VCC 	→ 	5V </a:t>
            </a:r>
          </a:p>
          <a:p>
            <a:pPr>
              <a:buFont typeface="Wingdings" panose="05000000000000000000" pitchFamily="2" charset="2"/>
              <a:buChar char="q"/>
            </a:pPr>
            <a:r>
              <a:rPr lang="en-GB" dirty="0">
                <a:latin typeface="Aptos Serif" panose="02020604070405020304" pitchFamily="18" charset="0"/>
                <a:cs typeface="Aptos Serif" panose="02020604070405020304" pitchFamily="18" charset="0"/>
              </a:rPr>
              <a:t>LCD     GND 	→	 GND</a:t>
            </a:r>
          </a:p>
          <a:p>
            <a:endParaRPr lang="en-GB" dirty="0"/>
          </a:p>
        </p:txBody>
      </p:sp>
    </p:spTree>
    <p:extLst>
      <p:ext uri="{BB962C8B-B14F-4D97-AF65-F5344CB8AC3E}">
        <p14:creationId xmlns:p14="http://schemas.microsoft.com/office/powerpoint/2010/main" val="2110863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2" name="Rectangle 11">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14" name="Straight Connector 13">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5AE6C737-FF55-4064-94B7-0B21D2EB6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12F94C-0739-DCD8-01FA-E72059C6F0AB}"/>
              </a:ext>
            </a:extLst>
          </p:cNvPr>
          <p:cNvSpPr>
            <a:spLocks noGrp="1"/>
          </p:cNvSpPr>
          <p:nvPr>
            <p:ph type="title"/>
          </p:nvPr>
        </p:nvSpPr>
        <p:spPr>
          <a:xfrm>
            <a:off x="7127311" y="1248631"/>
            <a:ext cx="4529526" cy="3171679"/>
          </a:xfrm>
        </p:spPr>
        <p:txBody>
          <a:bodyPr vert="horz" lIns="91440" tIns="45720" rIns="91440" bIns="45720" rtlCol="0" anchor="b">
            <a:normAutofit/>
          </a:bodyPr>
          <a:lstStyle/>
          <a:p>
            <a:r>
              <a:rPr lang="en-US" sz="6000" dirty="0">
                <a:solidFill>
                  <a:schemeClr val="tx1">
                    <a:lumMod val="85000"/>
                    <a:lumOff val="15000"/>
                  </a:schemeClr>
                </a:solidFill>
                <a:latin typeface="Aptos Slab SemiBold" panose="020B0004020202020204" pitchFamily="34" charset="0"/>
              </a:rPr>
              <a:t>SIMULATED CIRCUIT DIAGRAM</a:t>
            </a:r>
          </a:p>
        </p:txBody>
      </p:sp>
      <p:pic>
        <p:nvPicPr>
          <p:cNvPr id="5" name="Content Placeholder 4">
            <a:extLst>
              <a:ext uri="{FF2B5EF4-FFF2-40B4-BE49-F238E27FC236}">
                <a16:creationId xmlns:a16="http://schemas.microsoft.com/office/drawing/2014/main" id="{D4AA9591-1D1B-9E22-0DC1-E567E6D815E0}"/>
              </a:ext>
            </a:extLst>
          </p:cNvPr>
          <p:cNvPicPr>
            <a:picLocks noGrp="1" noChangeAspect="1"/>
          </p:cNvPicPr>
          <p:nvPr>
            <p:ph idx="1"/>
          </p:nvPr>
        </p:nvPicPr>
        <p:blipFill>
          <a:blip r:embed="rId2"/>
          <a:stretch>
            <a:fillRect/>
          </a:stretch>
        </p:blipFill>
        <p:spPr>
          <a:xfrm>
            <a:off x="633999" y="1248631"/>
            <a:ext cx="6368050" cy="4473554"/>
          </a:xfrm>
          <a:prstGeom prst="rect">
            <a:avLst/>
          </a:prstGeom>
        </p:spPr>
      </p:pic>
      <p:cxnSp>
        <p:nvCxnSpPr>
          <p:cNvPr id="18" name="Straight Connector 17">
            <a:extLst>
              <a:ext uri="{FF2B5EF4-FFF2-40B4-BE49-F238E27FC236}">
                <a16:creationId xmlns:a16="http://schemas.microsoft.com/office/drawing/2014/main" id="{6B5B1DD8-6224-4137-8621-32982B00F9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343400"/>
            <a:ext cx="438912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8218D9F-38B6-4AE0-9051-5434D19A5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2" name="Rectangle 21">
            <a:extLst>
              <a:ext uri="{FF2B5EF4-FFF2-40B4-BE49-F238E27FC236}">
                <a16:creationId xmlns:a16="http://schemas.microsoft.com/office/drawing/2014/main" id="{2D3DCA99-84AF-487A-BF72-91C5FA6B0B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2720230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38162-1D5F-2A4D-B448-AA1BCD1D8DDF}"/>
              </a:ext>
            </a:extLst>
          </p:cNvPr>
          <p:cNvSpPr>
            <a:spLocks noGrp="1"/>
          </p:cNvSpPr>
          <p:nvPr>
            <p:ph type="title"/>
          </p:nvPr>
        </p:nvSpPr>
        <p:spPr/>
        <p:txBody>
          <a:bodyPr/>
          <a:lstStyle/>
          <a:p>
            <a:r>
              <a:rPr lang="en-GB" dirty="0">
                <a:latin typeface="Aptos Slab SemiBold" panose="020B0004020202020204" pitchFamily="34" charset="0"/>
              </a:rPr>
              <a:t>WORKING PRINCIPLE</a:t>
            </a:r>
          </a:p>
        </p:txBody>
      </p:sp>
      <p:sp>
        <p:nvSpPr>
          <p:cNvPr id="3" name="Content Placeholder 2">
            <a:extLst>
              <a:ext uri="{FF2B5EF4-FFF2-40B4-BE49-F238E27FC236}">
                <a16:creationId xmlns:a16="http://schemas.microsoft.com/office/drawing/2014/main" id="{C261AC20-D5B2-4A43-F4B5-96C4A4C7E135}"/>
              </a:ext>
            </a:extLst>
          </p:cNvPr>
          <p:cNvSpPr>
            <a:spLocks noGrp="1"/>
          </p:cNvSpPr>
          <p:nvPr>
            <p:ph idx="1"/>
          </p:nvPr>
        </p:nvSpPr>
        <p:spPr/>
        <p:txBody>
          <a:bodyPr>
            <a:normAutofit fontScale="92500" lnSpcReduction="10000"/>
          </a:bodyPr>
          <a:lstStyle/>
          <a:p>
            <a:pPr>
              <a:buFont typeface="Wingdings" panose="05000000000000000000" pitchFamily="2" charset="2"/>
              <a:buChar char="q"/>
            </a:pPr>
            <a:r>
              <a:rPr lang="en-GB" dirty="0">
                <a:latin typeface="Aptos Serif" panose="02020604070405020304" pitchFamily="18" charset="0"/>
                <a:cs typeface="Aptos Serif" panose="02020604070405020304" pitchFamily="18" charset="0"/>
              </a:rPr>
              <a:t>The proposed gas leakage detection system continuously monitors the concentration of combustible gases using an MQ-2 gas sensor connected to an ESP32 microcontroller. The </a:t>
            </a:r>
            <a:r>
              <a:rPr lang="en-GB" dirty="0" err="1">
                <a:latin typeface="Aptos Serif" panose="02020604070405020304" pitchFamily="18" charset="0"/>
                <a:cs typeface="Aptos Serif" panose="02020604070405020304" pitchFamily="18" charset="0"/>
              </a:rPr>
              <a:t>analog</a:t>
            </a:r>
            <a:r>
              <a:rPr lang="en-GB" dirty="0">
                <a:latin typeface="Aptos Serif" panose="02020604070405020304" pitchFamily="18" charset="0"/>
                <a:cs typeface="Aptos Serif" panose="02020604070405020304" pitchFamily="18" charset="0"/>
              </a:rPr>
              <a:t> output of the sensor is read through GPIO34 and compared with a predefined threshold value of </a:t>
            </a:r>
            <a:r>
              <a:rPr lang="en-GB" b="1" dirty="0">
                <a:latin typeface="Aptos Serif" panose="02020604070405020304" pitchFamily="18" charset="0"/>
                <a:cs typeface="Aptos Serif" panose="02020604070405020304" pitchFamily="18" charset="0"/>
              </a:rPr>
              <a:t>2600 ADC units</a:t>
            </a:r>
            <a:r>
              <a:rPr lang="en-GB" dirty="0">
                <a:latin typeface="Aptos Serif" panose="02020604070405020304" pitchFamily="18" charset="0"/>
                <a:cs typeface="Aptos Serif" panose="02020604070405020304" pitchFamily="18" charset="0"/>
              </a:rPr>
              <a:t>.</a:t>
            </a:r>
          </a:p>
          <a:p>
            <a:pPr>
              <a:buFont typeface="Wingdings" panose="05000000000000000000" pitchFamily="2" charset="2"/>
              <a:buChar char="q"/>
            </a:pPr>
            <a:r>
              <a:rPr lang="en-GB" dirty="0">
                <a:latin typeface="Aptos Serif" panose="02020604070405020304" pitchFamily="18" charset="0"/>
                <a:cs typeface="Aptos Serif" panose="02020604070405020304" pitchFamily="18" charset="0"/>
              </a:rPr>
              <a:t>When the measured gas concentration is below the threshold, the environment is considered safe. The ESP32 turns on the green LED, keeps the buzzer turned off, and displays </a:t>
            </a:r>
            <a:r>
              <a:rPr lang="en-GB" b="1" dirty="0">
                <a:latin typeface="Aptos Serif" panose="02020604070405020304" pitchFamily="18" charset="0"/>
                <a:cs typeface="Aptos Serif" panose="02020604070405020304" pitchFamily="18" charset="0"/>
              </a:rPr>
              <a:t>“All Clear”</a:t>
            </a:r>
            <a:r>
              <a:rPr lang="en-GB" dirty="0">
                <a:latin typeface="Aptos Serif" panose="02020604070405020304" pitchFamily="18" charset="0"/>
                <a:cs typeface="Aptos Serif" panose="02020604070405020304" pitchFamily="18" charset="0"/>
              </a:rPr>
              <a:t> on the LCD screen. A status value of </a:t>
            </a:r>
            <a:r>
              <a:rPr lang="en-GB" b="1" dirty="0">
                <a:latin typeface="Aptos Serif" panose="02020604070405020304" pitchFamily="18" charset="0"/>
                <a:cs typeface="Aptos Serif" panose="02020604070405020304" pitchFamily="18" charset="0"/>
              </a:rPr>
              <a:t>0</a:t>
            </a:r>
            <a:r>
              <a:rPr lang="en-GB" dirty="0">
                <a:latin typeface="Aptos Serif" panose="02020604070405020304" pitchFamily="18" charset="0"/>
                <a:cs typeface="Aptos Serif" panose="02020604070405020304" pitchFamily="18" charset="0"/>
              </a:rPr>
              <a:t> is assigned to indicate a safe condition.</a:t>
            </a:r>
          </a:p>
          <a:p>
            <a:pPr>
              <a:buFont typeface="Wingdings" panose="05000000000000000000" pitchFamily="2" charset="2"/>
              <a:buChar char="q"/>
            </a:pPr>
            <a:r>
              <a:rPr lang="en-GB" dirty="0">
                <a:latin typeface="Aptos Serif" panose="02020604070405020304" pitchFamily="18" charset="0"/>
                <a:cs typeface="Aptos Serif" panose="02020604070405020304" pitchFamily="18" charset="0"/>
              </a:rPr>
              <a:t>When the gas concentration exceeds the threshold value, the ESP32 detects a gas leak. The red LED is switched on, the green LED is turned off, the buzzer is activated, and the LCD displays </a:t>
            </a:r>
            <a:r>
              <a:rPr lang="en-GB" b="1" dirty="0">
                <a:latin typeface="Aptos Serif" panose="02020604070405020304" pitchFamily="18" charset="0"/>
                <a:cs typeface="Aptos Serif" panose="02020604070405020304" pitchFamily="18" charset="0"/>
              </a:rPr>
              <a:t>“Gas Detected!”</a:t>
            </a:r>
            <a:r>
              <a:rPr lang="en-GB" dirty="0">
                <a:latin typeface="Aptos Serif" panose="02020604070405020304" pitchFamily="18" charset="0"/>
                <a:cs typeface="Aptos Serif" panose="02020604070405020304" pitchFamily="18" charset="0"/>
              </a:rPr>
              <a:t>. A status value of </a:t>
            </a:r>
            <a:r>
              <a:rPr lang="en-GB" b="1" dirty="0">
                <a:latin typeface="Aptos Serif" panose="02020604070405020304" pitchFamily="18" charset="0"/>
                <a:cs typeface="Aptos Serif" panose="02020604070405020304" pitchFamily="18" charset="0"/>
              </a:rPr>
              <a:t>1</a:t>
            </a:r>
            <a:r>
              <a:rPr lang="en-GB" dirty="0">
                <a:latin typeface="Aptos Serif" panose="02020604070405020304" pitchFamily="18" charset="0"/>
                <a:cs typeface="Aptos Serif" panose="02020604070405020304" pitchFamily="18" charset="0"/>
              </a:rPr>
              <a:t> is assigned to indicate a leak condition.</a:t>
            </a:r>
          </a:p>
          <a:p>
            <a:pPr>
              <a:buFont typeface="Wingdings" panose="05000000000000000000" pitchFamily="2" charset="2"/>
              <a:buChar char="q"/>
            </a:pPr>
            <a:r>
              <a:rPr lang="en-GB" dirty="0">
                <a:latin typeface="Aptos Serif" panose="02020604070405020304" pitchFamily="18" charset="0"/>
                <a:cs typeface="Aptos Serif" panose="02020604070405020304" pitchFamily="18" charset="0"/>
              </a:rPr>
              <a:t>The ESP32 uploads the gas concentration and status information to the </a:t>
            </a:r>
            <a:r>
              <a:rPr lang="en-GB" dirty="0" err="1">
                <a:latin typeface="Aptos Serif" panose="02020604070405020304" pitchFamily="18" charset="0"/>
                <a:cs typeface="Aptos Serif" panose="02020604070405020304" pitchFamily="18" charset="0"/>
              </a:rPr>
              <a:t>ThingSpeak</a:t>
            </a:r>
            <a:r>
              <a:rPr lang="en-GB" dirty="0">
                <a:latin typeface="Aptos Serif" panose="02020604070405020304" pitchFamily="18" charset="0"/>
                <a:cs typeface="Aptos Serif" panose="02020604070405020304" pitchFamily="18" charset="0"/>
              </a:rPr>
              <a:t> cloud platform every </a:t>
            </a:r>
            <a:r>
              <a:rPr lang="en-GB" b="1" dirty="0">
                <a:latin typeface="Aptos Serif" panose="02020604070405020304" pitchFamily="18" charset="0"/>
                <a:cs typeface="Aptos Serif" panose="02020604070405020304" pitchFamily="18" charset="0"/>
              </a:rPr>
              <a:t>15 seconds</a:t>
            </a:r>
            <a:r>
              <a:rPr lang="en-GB" dirty="0">
                <a:latin typeface="Aptos Serif" panose="02020604070405020304" pitchFamily="18" charset="0"/>
                <a:cs typeface="Aptos Serif" panose="02020604070405020304" pitchFamily="18" charset="0"/>
              </a:rPr>
              <a:t> through a </a:t>
            </a:r>
            <a:r>
              <a:rPr lang="en-GB" dirty="0" err="1">
                <a:latin typeface="Aptos Serif" panose="02020604070405020304" pitchFamily="18" charset="0"/>
                <a:cs typeface="Aptos Serif" panose="02020604070405020304" pitchFamily="18" charset="0"/>
              </a:rPr>
              <a:t>WiFi</a:t>
            </a:r>
            <a:r>
              <a:rPr lang="en-GB" dirty="0">
                <a:latin typeface="Aptos Serif" panose="02020604070405020304" pitchFamily="18" charset="0"/>
                <a:cs typeface="Aptos Serif" panose="02020604070405020304" pitchFamily="18" charset="0"/>
              </a:rPr>
              <a:t> connection, enabling real-time remote monitoring and data visualization.</a:t>
            </a:r>
          </a:p>
          <a:p>
            <a:pPr marL="0" indent="0">
              <a:buNone/>
            </a:pPr>
            <a:endParaRPr lang="en-GB" dirty="0">
              <a:latin typeface="Aptos Serif" panose="02020604070405020304" pitchFamily="18" charset="0"/>
              <a:cs typeface="Aptos Serif" panose="02020604070405020304" pitchFamily="18" charset="0"/>
            </a:endParaRPr>
          </a:p>
        </p:txBody>
      </p:sp>
    </p:spTree>
    <p:extLst>
      <p:ext uri="{BB962C8B-B14F-4D97-AF65-F5344CB8AC3E}">
        <p14:creationId xmlns:p14="http://schemas.microsoft.com/office/powerpoint/2010/main" val="1586061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51CC4-48B8-B2DF-EBD1-5B5E34450694}"/>
              </a:ext>
            </a:extLst>
          </p:cNvPr>
          <p:cNvSpPr>
            <a:spLocks noGrp="1"/>
          </p:cNvSpPr>
          <p:nvPr>
            <p:ph type="title"/>
          </p:nvPr>
        </p:nvSpPr>
        <p:spPr/>
        <p:txBody>
          <a:bodyPr/>
          <a:lstStyle/>
          <a:p>
            <a:r>
              <a:rPr lang="en-GB" dirty="0">
                <a:latin typeface="Aptos Slab SemiBold" panose="020B0004020202020204" pitchFamily="34" charset="0"/>
              </a:rPr>
              <a:t>WORKING PRINCIPLE FLOWCHART</a:t>
            </a:r>
            <a:endParaRPr lang="en-GB" dirty="0"/>
          </a:p>
        </p:txBody>
      </p:sp>
      <p:sp>
        <p:nvSpPr>
          <p:cNvPr id="3" name="Content Placeholder 2">
            <a:extLst>
              <a:ext uri="{FF2B5EF4-FFF2-40B4-BE49-F238E27FC236}">
                <a16:creationId xmlns:a16="http://schemas.microsoft.com/office/drawing/2014/main" id="{B697F037-2CE7-4168-D5A3-3275E1FE5108}"/>
              </a:ext>
            </a:extLst>
          </p:cNvPr>
          <p:cNvSpPr>
            <a:spLocks noGrp="1"/>
          </p:cNvSpPr>
          <p:nvPr>
            <p:ph idx="1"/>
          </p:nvPr>
        </p:nvSpPr>
        <p:spPr/>
        <p:txBody>
          <a:bodyPr/>
          <a:lstStyle/>
          <a:p>
            <a:r>
              <a:rPr lang="en-GB" dirty="0"/>
              <a:t> </a:t>
            </a:r>
          </a:p>
        </p:txBody>
      </p:sp>
      <p:sp>
        <p:nvSpPr>
          <p:cNvPr id="4" name="Rectangle: Rounded Corners 3">
            <a:extLst>
              <a:ext uri="{FF2B5EF4-FFF2-40B4-BE49-F238E27FC236}">
                <a16:creationId xmlns:a16="http://schemas.microsoft.com/office/drawing/2014/main" id="{94108424-95AF-66DA-8661-B9B0BEF641E4}"/>
              </a:ext>
            </a:extLst>
          </p:cNvPr>
          <p:cNvSpPr/>
          <p:nvPr/>
        </p:nvSpPr>
        <p:spPr>
          <a:xfrm>
            <a:off x="5093082" y="1954060"/>
            <a:ext cx="2066795" cy="3632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FBBCD6B9-C68B-C501-58F9-1B99904FA90A}"/>
              </a:ext>
            </a:extLst>
          </p:cNvPr>
          <p:cNvSpPr/>
          <p:nvPr/>
        </p:nvSpPr>
        <p:spPr>
          <a:xfrm>
            <a:off x="4392461" y="2757628"/>
            <a:ext cx="3657600" cy="8141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iamond 5">
            <a:extLst>
              <a:ext uri="{FF2B5EF4-FFF2-40B4-BE49-F238E27FC236}">
                <a16:creationId xmlns:a16="http://schemas.microsoft.com/office/drawing/2014/main" id="{2A9642F8-8550-7BC8-6F56-90290A577C07}"/>
              </a:ext>
            </a:extLst>
          </p:cNvPr>
          <p:cNvSpPr/>
          <p:nvPr/>
        </p:nvSpPr>
        <p:spPr>
          <a:xfrm>
            <a:off x="4951120" y="3978916"/>
            <a:ext cx="2350718" cy="1152395"/>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E16B0314-0C3E-EF5E-C6B5-8DFBDDEF431F}"/>
              </a:ext>
            </a:extLst>
          </p:cNvPr>
          <p:cNvSpPr/>
          <p:nvPr/>
        </p:nvSpPr>
        <p:spPr>
          <a:xfrm>
            <a:off x="2342367" y="4258849"/>
            <a:ext cx="1415441" cy="6889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NO</a:t>
            </a:r>
          </a:p>
        </p:txBody>
      </p:sp>
      <p:sp>
        <p:nvSpPr>
          <p:cNvPr id="8" name="Rectangle 7">
            <a:extLst>
              <a:ext uri="{FF2B5EF4-FFF2-40B4-BE49-F238E27FC236}">
                <a16:creationId xmlns:a16="http://schemas.microsoft.com/office/drawing/2014/main" id="{494F5049-8096-0E5D-1E6A-1EEA01D37CD0}"/>
              </a:ext>
            </a:extLst>
          </p:cNvPr>
          <p:cNvSpPr/>
          <p:nvPr/>
        </p:nvSpPr>
        <p:spPr>
          <a:xfrm>
            <a:off x="8495150" y="4223173"/>
            <a:ext cx="1578280" cy="6638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YES</a:t>
            </a:r>
          </a:p>
        </p:txBody>
      </p:sp>
      <p:sp>
        <p:nvSpPr>
          <p:cNvPr id="9" name="Circle: Hollow 8">
            <a:extLst>
              <a:ext uri="{FF2B5EF4-FFF2-40B4-BE49-F238E27FC236}">
                <a16:creationId xmlns:a16="http://schemas.microsoft.com/office/drawing/2014/main" id="{F262BE1A-2402-754C-78B6-770E72EAD4BD}"/>
              </a:ext>
            </a:extLst>
          </p:cNvPr>
          <p:cNvSpPr/>
          <p:nvPr/>
        </p:nvSpPr>
        <p:spPr>
          <a:xfrm>
            <a:off x="3050087" y="5361140"/>
            <a:ext cx="356992" cy="400833"/>
          </a:xfrm>
          <a:prstGeom prst="don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 name="Circle: Hollow 9">
            <a:extLst>
              <a:ext uri="{FF2B5EF4-FFF2-40B4-BE49-F238E27FC236}">
                <a16:creationId xmlns:a16="http://schemas.microsoft.com/office/drawing/2014/main" id="{DBD834CB-C756-97DB-BC5A-5D409A5844F9}"/>
              </a:ext>
            </a:extLst>
          </p:cNvPr>
          <p:cNvSpPr/>
          <p:nvPr/>
        </p:nvSpPr>
        <p:spPr>
          <a:xfrm>
            <a:off x="9081370" y="5361140"/>
            <a:ext cx="356992" cy="400833"/>
          </a:xfrm>
          <a:prstGeom prst="don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12" name="Straight Arrow Connector 11">
            <a:extLst>
              <a:ext uri="{FF2B5EF4-FFF2-40B4-BE49-F238E27FC236}">
                <a16:creationId xmlns:a16="http://schemas.microsoft.com/office/drawing/2014/main" id="{8C4A7B3A-8642-597B-7877-C7CC7F385391}"/>
              </a:ext>
            </a:extLst>
          </p:cNvPr>
          <p:cNvCxnSpPr/>
          <p:nvPr/>
        </p:nvCxnSpPr>
        <p:spPr>
          <a:xfrm>
            <a:off x="6096000" y="2317315"/>
            <a:ext cx="0" cy="425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99F5C87-43CC-DE9C-2FE3-E7E7EFFFA14D}"/>
              </a:ext>
            </a:extLst>
          </p:cNvPr>
          <p:cNvCxnSpPr/>
          <p:nvPr/>
        </p:nvCxnSpPr>
        <p:spPr>
          <a:xfrm>
            <a:off x="6126479" y="3607496"/>
            <a:ext cx="0" cy="371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83D7DA6-9656-F64B-5394-6913629361EF}"/>
              </a:ext>
            </a:extLst>
          </p:cNvPr>
          <p:cNvCxnSpPr>
            <a:stCxn id="6" idx="3"/>
          </p:cNvCxnSpPr>
          <p:nvPr/>
        </p:nvCxnSpPr>
        <p:spPr>
          <a:xfrm flipV="1">
            <a:off x="7301838" y="4555113"/>
            <a:ext cx="119331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A812003-ED85-9486-0CA3-012DDC8CE5DF}"/>
              </a:ext>
            </a:extLst>
          </p:cNvPr>
          <p:cNvCxnSpPr/>
          <p:nvPr/>
        </p:nvCxnSpPr>
        <p:spPr>
          <a:xfrm flipH="1">
            <a:off x="3757808" y="4555113"/>
            <a:ext cx="11933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1C5561A-157C-D306-602F-E26DC3FC6F69}"/>
              </a:ext>
            </a:extLst>
          </p:cNvPr>
          <p:cNvCxnSpPr/>
          <p:nvPr/>
        </p:nvCxnSpPr>
        <p:spPr>
          <a:xfrm>
            <a:off x="3228583" y="4947781"/>
            <a:ext cx="0" cy="4133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5CF9840-6D75-35FB-C15E-3A2D51400F97}"/>
              </a:ext>
            </a:extLst>
          </p:cNvPr>
          <p:cNvCxnSpPr>
            <a:cxnSpLocks/>
            <a:stCxn id="8" idx="2"/>
            <a:endCxn id="10" idx="0"/>
          </p:cNvCxnSpPr>
          <p:nvPr/>
        </p:nvCxnSpPr>
        <p:spPr>
          <a:xfrm flipH="1">
            <a:off x="9259866" y="4887053"/>
            <a:ext cx="24424" cy="4740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AF7C905-1B66-DAF7-BF51-AC673435A8CF}"/>
              </a:ext>
            </a:extLst>
          </p:cNvPr>
          <p:cNvSpPr txBox="1"/>
          <p:nvPr/>
        </p:nvSpPr>
        <p:spPr>
          <a:xfrm>
            <a:off x="5336088" y="1966586"/>
            <a:ext cx="1565740" cy="369332"/>
          </a:xfrm>
          <a:prstGeom prst="rect">
            <a:avLst/>
          </a:prstGeom>
          <a:noFill/>
        </p:spPr>
        <p:txBody>
          <a:bodyPr wrap="square" rtlCol="0">
            <a:spAutoFit/>
          </a:bodyPr>
          <a:lstStyle/>
          <a:p>
            <a:pPr algn="ctr"/>
            <a:r>
              <a:rPr lang="en-GB" dirty="0"/>
              <a:t>START</a:t>
            </a:r>
          </a:p>
        </p:txBody>
      </p:sp>
      <p:sp>
        <p:nvSpPr>
          <p:cNvPr id="25" name="TextBox 24">
            <a:extLst>
              <a:ext uri="{FF2B5EF4-FFF2-40B4-BE49-F238E27FC236}">
                <a16:creationId xmlns:a16="http://schemas.microsoft.com/office/drawing/2014/main" id="{756701B6-FC04-9AF3-3D6C-625B33CA7ADE}"/>
              </a:ext>
            </a:extLst>
          </p:cNvPr>
          <p:cNvSpPr txBox="1"/>
          <p:nvPr/>
        </p:nvSpPr>
        <p:spPr>
          <a:xfrm>
            <a:off x="4929409" y="2819018"/>
            <a:ext cx="3565741" cy="646331"/>
          </a:xfrm>
          <a:prstGeom prst="rect">
            <a:avLst/>
          </a:prstGeom>
          <a:noFill/>
        </p:spPr>
        <p:txBody>
          <a:bodyPr wrap="square" rtlCol="0">
            <a:spAutoFit/>
          </a:bodyPr>
          <a:lstStyle/>
          <a:p>
            <a:r>
              <a:rPr lang="en-GB" dirty="0"/>
              <a:t>INITIALISE ESP32, LCD,WIFI</a:t>
            </a:r>
          </a:p>
          <a:p>
            <a:r>
              <a:rPr lang="en-GB" dirty="0"/>
              <a:t>READ MQ2 SENSOR VALUE</a:t>
            </a:r>
          </a:p>
        </p:txBody>
      </p:sp>
      <p:sp>
        <p:nvSpPr>
          <p:cNvPr id="26" name="TextBox 25">
            <a:extLst>
              <a:ext uri="{FF2B5EF4-FFF2-40B4-BE49-F238E27FC236}">
                <a16:creationId xmlns:a16="http://schemas.microsoft.com/office/drawing/2014/main" id="{5A06ED04-1AD5-FBFF-E9BD-C22E66910FEB}"/>
              </a:ext>
            </a:extLst>
          </p:cNvPr>
          <p:cNvSpPr txBox="1"/>
          <p:nvPr/>
        </p:nvSpPr>
        <p:spPr>
          <a:xfrm>
            <a:off x="5511452" y="4258849"/>
            <a:ext cx="1497698" cy="646331"/>
          </a:xfrm>
          <a:prstGeom prst="rect">
            <a:avLst/>
          </a:prstGeom>
          <a:noFill/>
        </p:spPr>
        <p:txBody>
          <a:bodyPr wrap="square" rtlCol="0">
            <a:spAutoFit/>
          </a:bodyPr>
          <a:lstStyle/>
          <a:p>
            <a:r>
              <a:rPr lang="en-GB" dirty="0"/>
              <a:t>GAS VALUE&gt;2600</a:t>
            </a:r>
          </a:p>
        </p:txBody>
      </p:sp>
    </p:spTree>
    <p:extLst>
      <p:ext uri="{BB962C8B-B14F-4D97-AF65-F5344CB8AC3E}">
        <p14:creationId xmlns:p14="http://schemas.microsoft.com/office/powerpoint/2010/main" val="1513856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669BE-89B7-2392-CD3C-0F5F9DD19229}"/>
              </a:ext>
            </a:extLst>
          </p:cNvPr>
          <p:cNvSpPr>
            <a:spLocks noGrp="1"/>
          </p:cNvSpPr>
          <p:nvPr>
            <p:ph type="title"/>
          </p:nvPr>
        </p:nvSpPr>
        <p:spPr/>
        <p:txBody>
          <a:bodyPr/>
          <a:lstStyle/>
          <a:p>
            <a:r>
              <a:rPr lang="en-GB" dirty="0">
                <a:latin typeface="Aptos Slab SemiBold" panose="020B0004020202020204" pitchFamily="34" charset="0"/>
              </a:rPr>
              <a:t>WORKING PRINCIPLE FLOWCHART</a:t>
            </a:r>
            <a:endParaRPr lang="en-GB" dirty="0"/>
          </a:p>
        </p:txBody>
      </p:sp>
      <p:sp>
        <p:nvSpPr>
          <p:cNvPr id="3" name="Content Placeholder 2">
            <a:extLst>
              <a:ext uri="{FF2B5EF4-FFF2-40B4-BE49-F238E27FC236}">
                <a16:creationId xmlns:a16="http://schemas.microsoft.com/office/drawing/2014/main" id="{771124E1-DFD8-1812-63A5-2439D9D51899}"/>
              </a:ext>
            </a:extLst>
          </p:cNvPr>
          <p:cNvSpPr>
            <a:spLocks noGrp="1"/>
          </p:cNvSpPr>
          <p:nvPr>
            <p:ph idx="1"/>
          </p:nvPr>
        </p:nvSpPr>
        <p:spPr/>
        <p:txBody>
          <a:bodyPr/>
          <a:lstStyle/>
          <a:p>
            <a:r>
              <a:rPr lang="en-GB" dirty="0"/>
              <a:t> </a:t>
            </a:r>
          </a:p>
        </p:txBody>
      </p:sp>
      <p:sp>
        <p:nvSpPr>
          <p:cNvPr id="4" name="Circle: Hollow 3">
            <a:extLst>
              <a:ext uri="{FF2B5EF4-FFF2-40B4-BE49-F238E27FC236}">
                <a16:creationId xmlns:a16="http://schemas.microsoft.com/office/drawing/2014/main" id="{063500C0-D0D6-47E2-B67C-DBA0ECD23CC5}"/>
              </a:ext>
            </a:extLst>
          </p:cNvPr>
          <p:cNvSpPr/>
          <p:nvPr/>
        </p:nvSpPr>
        <p:spPr>
          <a:xfrm>
            <a:off x="2906038" y="2016690"/>
            <a:ext cx="338203" cy="375781"/>
          </a:xfrm>
          <a:prstGeom prst="don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 name="Circle: Hollow 5">
            <a:extLst>
              <a:ext uri="{FF2B5EF4-FFF2-40B4-BE49-F238E27FC236}">
                <a16:creationId xmlns:a16="http://schemas.microsoft.com/office/drawing/2014/main" id="{ECE8B175-7E55-8092-80E1-3185A3721B91}"/>
              </a:ext>
            </a:extLst>
          </p:cNvPr>
          <p:cNvSpPr/>
          <p:nvPr/>
        </p:nvSpPr>
        <p:spPr>
          <a:xfrm>
            <a:off x="7515616" y="2016690"/>
            <a:ext cx="338203" cy="375781"/>
          </a:xfrm>
          <a:prstGeom prst="don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 name="Rectangle 6">
            <a:extLst>
              <a:ext uri="{FF2B5EF4-FFF2-40B4-BE49-F238E27FC236}">
                <a16:creationId xmlns:a16="http://schemas.microsoft.com/office/drawing/2014/main" id="{0D6CB1E9-F3E3-45BD-0A48-BC76E2123E38}"/>
              </a:ext>
            </a:extLst>
          </p:cNvPr>
          <p:cNvSpPr/>
          <p:nvPr/>
        </p:nvSpPr>
        <p:spPr>
          <a:xfrm>
            <a:off x="2004164" y="2843408"/>
            <a:ext cx="2718148" cy="12275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GREEN LED ON</a:t>
            </a:r>
          </a:p>
          <a:p>
            <a:pPr algn="ctr"/>
            <a:r>
              <a:rPr lang="en-GB" dirty="0"/>
              <a:t>BUZZER OFF</a:t>
            </a:r>
          </a:p>
          <a:p>
            <a:pPr algn="ctr"/>
            <a:r>
              <a:rPr lang="en-GB" dirty="0"/>
              <a:t>LCD: ALL CLEAR</a:t>
            </a:r>
          </a:p>
          <a:p>
            <a:pPr algn="ctr"/>
            <a:r>
              <a:rPr lang="en-GB" dirty="0"/>
              <a:t>STATUS=0</a:t>
            </a:r>
          </a:p>
        </p:txBody>
      </p:sp>
      <p:sp>
        <p:nvSpPr>
          <p:cNvPr id="8" name="Rectangle 7">
            <a:extLst>
              <a:ext uri="{FF2B5EF4-FFF2-40B4-BE49-F238E27FC236}">
                <a16:creationId xmlns:a16="http://schemas.microsoft.com/office/drawing/2014/main" id="{FDE7E09A-32F3-7833-D481-165A7DABA447}"/>
              </a:ext>
            </a:extLst>
          </p:cNvPr>
          <p:cNvSpPr/>
          <p:nvPr/>
        </p:nvSpPr>
        <p:spPr>
          <a:xfrm>
            <a:off x="6651321" y="2843408"/>
            <a:ext cx="2880986" cy="12275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RED LED ON</a:t>
            </a:r>
          </a:p>
          <a:p>
            <a:pPr algn="ctr"/>
            <a:r>
              <a:rPr lang="en-GB" dirty="0"/>
              <a:t>BUZZER ON</a:t>
            </a:r>
          </a:p>
          <a:p>
            <a:pPr algn="ctr"/>
            <a:r>
              <a:rPr lang="en-GB" dirty="0"/>
              <a:t>LCD: GAS DETECTED!</a:t>
            </a:r>
          </a:p>
          <a:p>
            <a:pPr algn="ctr"/>
            <a:r>
              <a:rPr lang="en-GB" dirty="0"/>
              <a:t>STATUS=1</a:t>
            </a:r>
          </a:p>
        </p:txBody>
      </p:sp>
      <p:sp>
        <p:nvSpPr>
          <p:cNvPr id="9" name="Rectangle 8">
            <a:extLst>
              <a:ext uri="{FF2B5EF4-FFF2-40B4-BE49-F238E27FC236}">
                <a16:creationId xmlns:a16="http://schemas.microsoft.com/office/drawing/2014/main" id="{961388AB-F2A0-2381-CF3E-6778A76DB054}"/>
              </a:ext>
            </a:extLst>
          </p:cNvPr>
          <p:cNvSpPr/>
          <p:nvPr/>
        </p:nvSpPr>
        <p:spPr>
          <a:xfrm>
            <a:off x="4534422" y="4471792"/>
            <a:ext cx="2354893" cy="4133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UPLOAD TO THINGSPEAK</a:t>
            </a:r>
          </a:p>
        </p:txBody>
      </p:sp>
      <p:sp>
        <p:nvSpPr>
          <p:cNvPr id="10" name="Rectangle: Rounded Corners 9">
            <a:extLst>
              <a:ext uri="{FF2B5EF4-FFF2-40B4-BE49-F238E27FC236}">
                <a16:creationId xmlns:a16="http://schemas.microsoft.com/office/drawing/2014/main" id="{41CCFFD2-4D56-282A-C350-383C30ADA9B9}"/>
              </a:ext>
            </a:extLst>
          </p:cNvPr>
          <p:cNvSpPr/>
          <p:nvPr/>
        </p:nvSpPr>
        <p:spPr>
          <a:xfrm>
            <a:off x="5098093" y="5323562"/>
            <a:ext cx="1377863" cy="4133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REPEAT</a:t>
            </a:r>
          </a:p>
        </p:txBody>
      </p:sp>
      <p:cxnSp>
        <p:nvCxnSpPr>
          <p:cNvPr id="12" name="Straight Arrow Connector 11">
            <a:extLst>
              <a:ext uri="{FF2B5EF4-FFF2-40B4-BE49-F238E27FC236}">
                <a16:creationId xmlns:a16="http://schemas.microsoft.com/office/drawing/2014/main" id="{FD214AFA-23C0-B54C-E7FF-EFA486C20823}"/>
              </a:ext>
            </a:extLst>
          </p:cNvPr>
          <p:cNvCxnSpPr>
            <a:stCxn id="4" idx="4"/>
          </p:cNvCxnSpPr>
          <p:nvPr/>
        </p:nvCxnSpPr>
        <p:spPr>
          <a:xfrm>
            <a:off x="3075140" y="2392471"/>
            <a:ext cx="18789" cy="5511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191C89A-36C1-0B03-759D-D7138CD9AB1C}"/>
              </a:ext>
            </a:extLst>
          </p:cNvPr>
          <p:cNvCxnSpPr>
            <a:cxnSpLocks/>
          </p:cNvCxnSpPr>
          <p:nvPr/>
        </p:nvCxnSpPr>
        <p:spPr>
          <a:xfrm>
            <a:off x="7747348" y="2417523"/>
            <a:ext cx="895611" cy="889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92C2D45D-7A36-A860-7483-C73FF1C7E0FF}"/>
              </a:ext>
            </a:extLst>
          </p:cNvPr>
          <p:cNvCxnSpPr>
            <a:stCxn id="7" idx="2"/>
          </p:cNvCxnSpPr>
          <p:nvPr/>
        </p:nvCxnSpPr>
        <p:spPr>
          <a:xfrm rot="16200000" flipH="1">
            <a:off x="3635680" y="3798517"/>
            <a:ext cx="626301" cy="1171184"/>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ctor: Curved 20">
            <a:extLst>
              <a:ext uri="{FF2B5EF4-FFF2-40B4-BE49-F238E27FC236}">
                <a16:creationId xmlns:a16="http://schemas.microsoft.com/office/drawing/2014/main" id="{A7896749-D26A-738B-D699-8D8A6E08505E}"/>
              </a:ext>
            </a:extLst>
          </p:cNvPr>
          <p:cNvCxnSpPr>
            <a:cxnSpLocks/>
          </p:cNvCxnSpPr>
          <p:nvPr/>
        </p:nvCxnSpPr>
        <p:spPr>
          <a:xfrm rot="10800000" flipV="1">
            <a:off x="6889317" y="4070957"/>
            <a:ext cx="1665960" cy="734676"/>
          </a:xfrm>
          <a:prstGeom prst="curvedConnector3">
            <a:avLst>
              <a:gd name="adj1" fmla="val -1466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71755D4-DC39-6A92-8968-29734FB70EF0}"/>
              </a:ext>
            </a:extLst>
          </p:cNvPr>
          <p:cNvCxnSpPr/>
          <p:nvPr/>
        </p:nvCxnSpPr>
        <p:spPr>
          <a:xfrm>
            <a:off x="5699342" y="4885151"/>
            <a:ext cx="0" cy="4384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639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4B5B8-CCFC-3010-518F-ABFD87F314CA}"/>
              </a:ext>
            </a:extLst>
          </p:cNvPr>
          <p:cNvSpPr>
            <a:spLocks noGrp="1"/>
          </p:cNvSpPr>
          <p:nvPr>
            <p:ph type="title"/>
          </p:nvPr>
        </p:nvSpPr>
        <p:spPr/>
        <p:txBody>
          <a:bodyPr/>
          <a:lstStyle/>
          <a:p>
            <a:r>
              <a:rPr lang="en-GB" dirty="0" err="1">
                <a:latin typeface="Aptos Slab SemiBold" panose="020B0004020202020204" pitchFamily="34" charset="0"/>
              </a:rPr>
              <a:t>ThingSpeak</a:t>
            </a:r>
            <a:r>
              <a:rPr lang="en-GB" dirty="0">
                <a:latin typeface="Aptos Slab SemiBold" panose="020B0004020202020204" pitchFamily="34" charset="0"/>
              </a:rPr>
              <a:t> Integration</a:t>
            </a:r>
          </a:p>
        </p:txBody>
      </p:sp>
      <p:sp>
        <p:nvSpPr>
          <p:cNvPr id="3" name="Content Placeholder 2">
            <a:extLst>
              <a:ext uri="{FF2B5EF4-FFF2-40B4-BE49-F238E27FC236}">
                <a16:creationId xmlns:a16="http://schemas.microsoft.com/office/drawing/2014/main" id="{EEE24429-749E-D801-AD4B-BAF165CDE459}"/>
              </a:ext>
            </a:extLst>
          </p:cNvPr>
          <p:cNvSpPr>
            <a:spLocks noGrp="1"/>
          </p:cNvSpPr>
          <p:nvPr>
            <p:ph idx="1"/>
          </p:nvPr>
        </p:nvSpPr>
        <p:spPr/>
        <p:txBody>
          <a:bodyPr/>
          <a:lstStyle/>
          <a:p>
            <a:pPr algn="just"/>
            <a:r>
              <a:rPr lang="en-GB" dirty="0" err="1">
                <a:latin typeface="Aptos Serif" panose="02020604070405020304" pitchFamily="18" charset="0"/>
                <a:cs typeface="Aptos Serif" panose="02020604070405020304" pitchFamily="18" charset="0"/>
              </a:rPr>
              <a:t>ThingSpeak</a:t>
            </a:r>
            <a:r>
              <a:rPr lang="en-GB" dirty="0">
                <a:latin typeface="Aptos Serif" panose="02020604070405020304" pitchFamily="18" charset="0"/>
                <a:cs typeface="Aptos Serif" panose="02020604070405020304" pitchFamily="18" charset="0"/>
              </a:rPr>
              <a:t> was used as the cloud platform for storing and visualizing gas concentration data. The ESP32 connects to the </a:t>
            </a:r>
            <a:r>
              <a:rPr lang="en-GB" b="1" dirty="0" err="1">
                <a:latin typeface="Aptos Serif" panose="02020604070405020304" pitchFamily="18" charset="0"/>
                <a:cs typeface="Aptos Serif" panose="02020604070405020304" pitchFamily="18" charset="0"/>
              </a:rPr>
              <a:t>Wokwi</a:t>
            </a:r>
            <a:r>
              <a:rPr lang="en-GB" b="1" dirty="0">
                <a:latin typeface="Aptos Serif" panose="02020604070405020304" pitchFamily="18" charset="0"/>
                <a:cs typeface="Aptos Serif" panose="02020604070405020304" pitchFamily="18" charset="0"/>
              </a:rPr>
              <a:t>-GUEST</a:t>
            </a:r>
            <a:r>
              <a:rPr lang="en-GB" dirty="0">
                <a:latin typeface="Aptos Serif" panose="02020604070405020304" pitchFamily="18" charset="0"/>
                <a:cs typeface="Aptos Serif" panose="02020604070405020304" pitchFamily="18" charset="0"/>
              </a:rPr>
              <a:t> </a:t>
            </a:r>
            <a:r>
              <a:rPr lang="en-GB" dirty="0" err="1">
                <a:latin typeface="Aptos Serif" panose="02020604070405020304" pitchFamily="18" charset="0"/>
                <a:cs typeface="Aptos Serif" panose="02020604070405020304" pitchFamily="18" charset="0"/>
              </a:rPr>
              <a:t>WiFi</a:t>
            </a:r>
            <a:r>
              <a:rPr lang="en-GB" dirty="0">
                <a:latin typeface="Aptos Serif" panose="02020604070405020304" pitchFamily="18" charset="0"/>
                <a:cs typeface="Aptos Serif" panose="02020604070405020304" pitchFamily="18" charset="0"/>
              </a:rPr>
              <a:t> network and sends sensor readings to </a:t>
            </a:r>
            <a:r>
              <a:rPr lang="en-GB" dirty="0" err="1">
                <a:latin typeface="Aptos Serif" panose="02020604070405020304" pitchFamily="18" charset="0"/>
                <a:cs typeface="Aptos Serif" panose="02020604070405020304" pitchFamily="18" charset="0"/>
              </a:rPr>
              <a:t>ThingSpeak</a:t>
            </a:r>
            <a:r>
              <a:rPr lang="en-GB" dirty="0">
                <a:latin typeface="Aptos Serif" panose="02020604070405020304" pitchFamily="18" charset="0"/>
                <a:cs typeface="Aptos Serif" panose="02020604070405020304" pitchFamily="18" charset="0"/>
              </a:rPr>
              <a:t> using HTTP GET requests.</a:t>
            </a:r>
          </a:p>
          <a:p>
            <a:pPr algn="just"/>
            <a:r>
              <a:rPr lang="en-GB" dirty="0">
                <a:latin typeface="Aptos Serif" panose="02020604070405020304" pitchFamily="18" charset="0"/>
                <a:cs typeface="Aptos Serif" panose="02020604070405020304" pitchFamily="18" charset="0"/>
              </a:rPr>
              <a:t>Two fields were configured in the </a:t>
            </a:r>
            <a:r>
              <a:rPr lang="en-GB" dirty="0" err="1">
                <a:latin typeface="Aptos Serif" panose="02020604070405020304" pitchFamily="18" charset="0"/>
                <a:cs typeface="Aptos Serif" panose="02020604070405020304" pitchFamily="18" charset="0"/>
              </a:rPr>
              <a:t>ThingSpeak</a:t>
            </a:r>
            <a:r>
              <a:rPr lang="en-GB" dirty="0">
                <a:latin typeface="Aptos Serif" panose="02020604070405020304" pitchFamily="18" charset="0"/>
                <a:cs typeface="Aptos Serif" panose="02020604070405020304" pitchFamily="18" charset="0"/>
              </a:rPr>
              <a:t> channel:</a:t>
            </a:r>
          </a:p>
          <a:p>
            <a:endParaRPr lang="en-GB" dirty="0">
              <a:latin typeface="Aptos Serif" panose="02020604070405020304" pitchFamily="18" charset="0"/>
              <a:cs typeface="Aptos Serif" panose="02020604070405020304" pitchFamily="18" charset="0"/>
            </a:endParaRPr>
          </a:p>
        </p:txBody>
      </p:sp>
      <p:graphicFrame>
        <p:nvGraphicFramePr>
          <p:cNvPr id="4" name="Table 3">
            <a:extLst>
              <a:ext uri="{FF2B5EF4-FFF2-40B4-BE49-F238E27FC236}">
                <a16:creationId xmlns:a16="http://schemas.microsoft.com/office/drawing/2014/main" id="{410ADEA2-E12F-69DE-C505-1865B1552577}"/>
              </a:ext>
            </a:extLst>
          </p:cNvPr>
          <p:cNvGraphicFramePr>
            <a:graphicFrameLocks noGrp="1"/>
          </p:cNvGraphicFramePr>
          <p:nvPr>
            <p:extLst>
              <p:ext uri="{D42A27DB-BD31-4B8C-83A1-F6EECF244321}">
                <p14:modId xmlns:p14="http://schemas.microsoft.com/office/powerpoint/2010/main" val="3719800327"/>
              </p:ext>
            </p:extLst>
          </p:nvPr>
        </p:nvGraphicFramePr>
        <p:xfrm>
          <a:off x="1831582" y="3428999"/>
          <a:ext cx="8176714" cy="1731723"/>
        </p:xfrm>
        <a:graphic>
          <a:graphicData uri="http://schemas.openxmlformats.org/drawingml/2006/table">
            <a:tbl>
              <a:tblPr firstRow="1" bandRow="1">
                <a:tableStyleId>{5C22544A-7EE6-4342-B048-85BDC9FD1C3A}</a:tableStyleId>
              </a:tblPr>
              <a:tblGrid>
                <a:gridCol w="4088357">
                  <a:extLst>
                    <a:ext uri="{9D8B030D-6E8A-4147-A177-3AD203B41FA5}">
                      <a16:colId xmlns:a16="http://schemas.microsoft.com/office/drawing/2014/main" val="3014928040"/>
                    </a:ext>
                  </a:extLst>
                </a:gridCol>
                <a:gridCol w="4088357">
                  <a:extLst>
                    <a:ext uri="{9D8B030D-6E8A-4147-A177-3AD203B41FA5}">
                      <a16:colId xmlns:a16="http://schemas.microsoft.com/office/drawing/2014/main" val="740786213"/>
                    </a:ext>
                  </a:extLst>
                </a:gridCol>
              </a:tblGrid>
              <a:tr h="577241">
                <a:tc>
                  <a:txBody>
                    <a:bodyPr/>
                    <a:lstStyle/>
                    <a:p>
                      <a:r>
                        <a:rPr lang="en-GB" dirty="0"/>
                        <a:t>FIELD</a:t>
                      </a:r>
                    </a:p>
                  </a:txBody>
                  <a:tcPr/>
                </a:tc>
                <a:tc>
                  <a:txBody>
                    <a:bodyPr/>
                    <a:lstStyle/>
                    <a:p>
                      <a:r>
                        <a:rPr lang="en-GB" dirty="0"/>
                        <a:t>DESCRPTION</a:t>
                      </a:r>
                    </a:p>
                  </a:txBody>
                  <a:tcPr/>
                </a:tc>
                <a:extLst>
                  <a:ext uri="{0D108BD9-81ED-4DB2-BD59-A6C34878D82A}">
                    <a16:rowId xmlns:a16="http://schemas.microsoft.com/office/drawing/2014/main" val="4218609905"/>
                  </a:ext>
                </a:extLst>
              </a:tr>
              <a:tr h="577241">
                <a:tc>
                  <a:txBody>
                    <a:bodyPr/>
                    <a:lstStyle/>
                    <a:p>
                      <a:r>
                        <a:rPr lang="en-GB" dirty="0"/>
                        <a:t>FIELD 1</a:t>
                      </a:r>
                    </a:p>
                  </a:txBody>
                  <a:tcPr/>
                </a:tc>
                <a:tc>
                  <a:txBody>
                    <a:bodyPr/>
                    <a:lstStyle/>
                    <a:p>
                      <a:r>
                        <a:rPr lang="en-GB" dirty="0"/>
                        <a:t>GAS CONCENTRATION</a:t>
                      </a:r>
                    </a:p>
                  </a:txBody>
                  <a:tcPr/>
                </a:tc>
                <a:extLst>
                  <a:ext uri="{0D108BD9-81ED-4DB2-BD59-A6C34878D82A}">
                    <a16:rowId xmlns:a16="http://schemas.microsoft.com/office/drawing/2014/main" val="1721462956"/>
                  </a:ext>
                </a:extLst>
              </a:tr>
              <a:tr h="577241">
                <a:tc>
                  <a:txBody>
                    <a:bodyPr/>
                    <a:lstStyle/>
                    <a:p>
                      <a:r>
                        <a:rPr lang="en-GB" dirty="0"/>
                        <a:t>FIELD 2</a:t>
                      </a:r>
                    </a:p>
                  </a:txBody>
                  <a:tcPr/>
                </a:tc>
                <a:tc>
                  <a:txBody>
                    <a:bodyPr/>
                    <a:lstStyle/>
                    <a:p>
                      <a:r>
                        <a:rPr lang="en-GB" dirty="0"/>
                        <a:t>STATUS ( 0=SAFE, 1=LEAK)</a:t>
                      </a:r>
                    </a:p>
                  </a:txBody>
                  <a:tcPr/>
                </a:tc>
                <a:extLst>
                  <a:ext uri="{0D108BD9-81ED-4DB2-BD59-A6C34878D82A}">
                    <a16:rowId xmlns:a16="http://schemas.microsoft.com/office/drawing/2014/main" val="3675686672"/>
                  </a:ext>
                </a:extLst>
              </a:tr>
            </a:tbl>
          </a:graphicData>
        </a:graphic>
      </p:graphicFrame>
      <p:sp>
        <p:nvSpPr>
          <p:cNvPr id="6" name="TextBox 5">
            <a:extLst>
              <a:ext uri="{FF2B5EF4-FFF2-40B4-BE49-F238E27FC236}">
                <a16:creationId xmlns:a16="http://schemas.microsoft.com/office/drawing/2014/main" id="{8B0BD61E-38B9-78AA-B5D0-B3FDA1990550}"/>
              </a:ext>
            </a:extLst>
          </p:cNvPr>
          <p:cNvSpPr txBox="1"/>
          <p:nvPr/>
        </p:nvSpPr>
        <p:spPr>
          <a:xfrm>
            <a:off x="1097280" y="5331137"/>
            <a:ext cx="9997440" cy="707886"/>
          </a:xfrm>
          <a:prstGeom prst="rect">
            <a:avLst/>
          </a:prstGeom>
          <a:noFill/>
        </p:spPr>
        <p:txBody>
          <a:bodyPr wrap="square">
            <a:spAutoFit/>
          </a:bodyPr>
          <a:lstStyle/>
          <a:p>
            <a:pPr algn="just">
              <a:buNone/>
            </a:pPr>
            <a:r>
              <a:rPr lang="en-GB" sz="2000" dirty="0">
                <a:latin typeface="Aptos Serif" panose="02020604070405020304" pitchFamily="18" charset="0"/>
                <a:cs typeface="Aptos Serif" panose="02020604070405020304" pitchFamily="18" charset="0"/>
              </a:rPr>
              <a:t>The ESP32 uploads data at an interval of </a:t>
            </a:r>
            <a:r>
              <a:rPr lang="en-GB" sz="2000" b="1" dirty="0">
                <a:latin typeface="Aptos Serif" panose="02020604070405020304" pitchFamily="18" charset="0"/>
                <a:cs typeface="Aptos Serif" panose="02020604070405020304" pitchFamily="18" charset="0"/>
              </a:rPr>
              <a:t>15 seconds</a:t>
            </a:r>
            <a:r>
              <a:rPr lang="en-GB" sz="2000" dirty="0">
                <a:latin typeface="Aptos Serif" panose="02020604070405020304" pitchFamily="18" charset="0"/>
                <a:cs typeface="Aptos Serif" panose="02020604070405020304" pitchFamily="18" charset="0"/>
              </a:rPr>
              <a:t>, complying with the limitations of the free </a:t>
            </a:r>
            <a:r>
              <a:rPr lang="en-GB" sz="2000" dirty="0" err="1">
                <a:latin typeface="Aptos Serif" panose="02020604070405020304" pitchFamily="18" charset="0"/>
                <a:cs typeface="Aptos Serif" panose="02020604070405020304" pitchFamily="18" charset="0"/>
              </a:rPr>
              <a:t>ThingSpeak</a:t>
            </a:r>
            <a:r>
              <a:rPr lang="en-GB" sz="2000" dirty="0">
                <a:latin typeface="Aptos Serif" panose="02020604070405020304" pitchFamily="18" charset="0"/>
                <a:cs typeface="Aptos Serif" panose="02020604070405020304" pitchFamily="18" charset="0"/>
              </a:rPr>
              <a:t> service.</a:t>
            </a:r>
          </a:p>
        </p:txBody>
      </p:sp>
    </p:spTree>
    <p:extLst>
      <p:ext uri="{BB962C8B-B14F-4D97-AF65-F5344CB8AC3E}">
        <p14:creationId xmlns:p14="http://schemas.microsoft.com/office/powerpoint/2010/main" val="33748331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98D88-C315-81F4-5D37-5DF96759EB18}"/>
              </a:ext>
            </a:extLst>
          </p:cNvPr>
          <p:cNvSpPr>
            <a:spLocks noGrp="1"/>
          </p:cNvSpPr>
          <p:nvPr>
            <p:ph type="title"/>
          </p:nvPr>
        </p:nvSpPr>
        <p:spPr/>
        <p:txBody>
          <a:bodyPr/>
          <a:lstStyle/>
          <a:p>
            <a:r>
              <a:rPr lang="en-GB" dirty="0" err="1">
                <a:latin typeface="Aptos Slab SemiBold" panose="020B0004020202020204" pitchFamily="34" charset="0"/>
              </a:rPr>
              <a:t>ThingSpeak</a:t>
            </a:r>
            <a:r>
              <a:rPr lang="en-GB" dirty="0">
                <a:latin typeface="Aptos Slab SemiBold" panose="020B0004020202020204" pitchFamily="34" charset="0"/>
              </a:rPr>
              <a:t> Integration</a:t>
            </a:r>
          </a:p>
        </p:txBody>
      </p:sp>
      <p:sp>
        <p:nvSpPr>
          <p:cNvPr id="3" name="Content Placeholder 2">
            <a:extLst>
              <a:ext uri="{FF2B5EF4-FFF2-40B4-BE49-F238E27FC236}">
                <a16:creationId xmlns:a16="http://schemas.microsoft.com/office/drawing/2014/main" id="{0F189311-87BC-4919-6BE3-9795D665E2E5}"/>
              </a:ext>
            </a:extLst>
          </p:cNvPr>
          <p:cNvSpPr>
            <a:spLocks noGrp="1"/>
          </p:cNvSpPr>
          <p:nvPr>
            <p:ph idx="1"/>
          </p:nvPr>
        </p:nvSpPr>
        <p:spPr/>
        <p:txBody>
          <a:bodyPr/>
          <a:lstStyle/>
          <a:p>
            <a:endParaRPr lang="en-GB" dirty="0">
              <a:latin typeface="Aptos Serif" panose="02020604070405020304" pitchFamily="18" charset="0"/>
              <a:cs typeface="Aptos Serif" panose="02020604070405020304" pitchFamily="18" charset="0"/>
            </a:endParaRPr>
          </a:p>
          <a:p>
            <a:r>
              <a:rPr lang="en-GB" dirty="0">
                <a:latin typeface="Aptos Serif" panose="02020604070405020304" pitchFamily="18" charset="0"/>
                <a:cs typeface="Aptos Serif" panose="02020604070405020304" pitchFamily="18" charset="0"/>
              </a:rPr>
              <a:t>CODE SNIPPET</a:t>
            </a:r>
          </a:p>
        </p:txBody>
      </p:sp>
      <p:pic>
        <p:nvPicPr>
          <p:cNvPr id="5" name="Picture 4">
            <a:extLst>
              <a:ext uri="{FF2B5EF4-FFF2-40B4-BE49-F238E27FC236}">
                <a16:creationId xmlns:a16="http://schemas.microsoft.com/office/drawing/2014/main" id="{76786DAA-41CF-791D-4EDE-6EF2305B224F}"/>
              </a:ext>
            </a:extLst>
          </p:cNvPr>
          <p:cNvPicPr>
            <a:picLocks noChangeAspect="1"/>
          </p:cNvPicPr>
          <p:nvPr/>
        </p:nvPicPr>
        <p:blipFill>
          <a:blip r:embed="rId2"/>
          <a:stretch>
            <a:fillRect/>
          </a:stretch>
        </p:blipFill>
        <p:spPr>
          <a:xfrm>
            <a:off x="3018772" y="2153299"/>
            <a:ext cx="7728559" cy="3762301"/>
          </a:xfrm>
          <a:prstGeom prst="rect">
            <a:avLst/>
          </a:prstGeom>
        </p:spPr>
      </p:pic>
    </p:spTree>
    <p:extLst>
      <p:ext uri="{BB962C8B-B14F-4D97-AF65-F5344CB8AC3E}">
        <p14:creationId xmlns:p14="http://schemas.microsoft.com/office/powerpoint/2010/main" val="40811824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867B8-989C-52CD-F914-04A3869E3CA5}"/>
              </a:ext>
            </a:extLst>
          </p:cNvPr>
          <p:cNvSpPr>
            <a:spLocks noGrp="1"/>
          </p:cNvSpPr>
          <p:nvPr>
            <p:ph type="title"/>
          </p:nvPr>
        </p:nvSpPr>
        <p:spPr/>
        <p:txBody>
          <a:bodyPr/>
          <a:lstStyle/>
          <a:p>
            <a:r>
              <a:rPr lang="en-GB" dirty="0" err="1">
                <a:latin typeface="Aptos Slab SemiBold" panose="020B0004020202020204" pitchFamily="34" charset="0"/>
              </a:rPr>
              <a:t>ThingSpeak</a:t>
            </a:r>
            <a:r>
              <a:rPr lang="en-GB" dirty="0">
                <a:latin typeface="Aptos Slab SemiBold" panose="020B0004020202020204" pitchFamily="34" charset="0"/>
              </a:rPr>
              <a:t> Integration</a:t>
            </a:r>
            <a:endParaRPr lang="en-GB" dirty="0"/>
          </a:p>
        </p:txBody>
      </p:sp>
      <p:pic>
        <p:nvPicPr>
          <p:cNvPr id="5" name="Content Placeholder 4">
            <a:extLst>
              <a:ext uri="{FF2B5EF4-FFF2-40B4-BE49-F238E27FC236}">
                <a16:creationId xmlns:a16="http://schemas.microsoft.com/office/drawing/2014/main" id="{E5F52562-0EA0-5ECA-27F1-76281E9CC0F8}"/>
              </a:ext>
            </a:extLst>
          </p:cNvPr>
          <p:cNvPicPr>
            <a:picLocks noGrp="1" noChangeAspect="1"/>
          </p:cNvPicPr>
          <p:nvPr>
            <p:ph idx="1"/>
          </p:nvPr>
        </p:nvPicPr>
        <p:blipFill>
          <a:blip r:embed="rId2"/>
          <a:stretch>
            <a:fillRect/>
          </a:stretch>
        </p:blipFill>
        <p:spPr>
          <a:xfrm>
            <a:off x="3236421" y="1846263"/>
            <a:ext cx="5779484" cy="4022725"/>
          </a:xfrm>
          <a:prstGeom prst="rect">
            <a:avLst/>
          </a:prstGeom>
        </p:spPr>
      </p:pic>
    </p:spTree>
    <p:extLst>
      <p:ext uri="{BB962C8B-B14F-4D97-AF65-F5344CB8AC3E}">
        <p14:creationId xmlns:p14="http://schemas.microsoft.com/office/powerpoint/2010/main" val="3550367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288E2-A9B8-F4C3-B308-5928D2215E43}"/>
              </a:ext>
            </a:extLst>
          </p:cNvPr>
          <p:cNvSpPr>
            <a:spLocks noGrp="1"/>
          </p:cNvSpPr>
          <p:nvPr>
            <p:ph type="title"/>
          </p:nvPr>
        </p:nvSpPr>
        <p:spPr/>
        <p:txBody>
          <a:bodyPr/>
          <a:lstStyle/>
          <a:p>
            <a:r>
              <a:rPr lang="en-GB" dirty="0" err="1">
                <a:latin typeface="Aptos Slab SemiBold" panose="020B0004020202020204" pitchFamily="34" charset="0"/>
              </a:rPr>
              <a:t>ThingSpeak</a:t>
            </a:r>
            <a:r>
              <a:rPr lang="en-GB" dirty="0">
                <a:latin typeface="Aptos Slab SemiBold" panose="020B0004020202020204" pitchFamily="34" charset="0"/>
              </a:rPr>
              <a:t> Integration</a:t>
            </a:r>
            <a:endParaRPr lang="en-GB" dirty="0"/>
          </a:p>
        </p:txBody>
      </p:sp>
      <p:pic>
        <p:nvPicPr>
          <p:cNvPr id="9" name="Content Placeholder 8">
            <a:extLst>
              <a:ext uri="{FF2B5EF4-FFF2-40B4-BE49-F238E27FC236}">
                <a16:creationId xmlns:a16="http://schemas.microsoft.com/office/drawing/2014/main" id="{3ED2D9DF-3304-34ED-75F0-4E4E3A6CDF91}"/>
              </a:ext>
            </a:extLst>
          </p:cNvPr>
          <p:cNvPicPr>
            <a:picLocks noGrp="1" noChangeAspect="1"/>
          </p:cNvPicPr>
          <p:nvPr>
            <p:ph idx="1"/>
          </p:nvPr>
        </p:nvPicPr>
        <p:blipFill>
          <a:blip r:embed="rId2"/>
          <a:stretch>
            <a:fillRect/>
          </a:stretch>
        </p:blipFill>
        <p:spPr>
          <a:xfrm>
            <a:off x="1866378" y="1955840"/>
            <a:ext cx="8530379" cy="3164802"/>
          </a:xfrm>
          <a:prstGeom prst="rect">
            <a:avLst/>
          </a:prstGeom>
        </p:spPr>
      </p:pic>
      <p:sp>
        <p:nvSpPr>
          <p:cNvPr id="10" name="TextBox 9">
            <a:extLst>
              <a:ext uri="{FF2B5EF4-FFF2-40B4-BE49-F238E27FC236}">
                <a16:creationId xmlns:a16="http://schemas.microsoft.com/office/drawing/2014/main" id="{4CC3D163-2D88-4927-A114-4979E8BAF116}"/>
              </a:ext>
            </a:extLst>
          </p:cNvPr>
          <p:cNvSpPr txBox="1"/>
          <p:nvPr/>
        </p:nvSpPr>
        <p:spPr>
          <a:xfrm>
            <a:off x="2229633" y="5120642"/>
            <a:ext cx="6526060" cy="646331"/>
          </a:xfrm>
          <a:prstGeom prst="rect">
            <a:avLst/>
          </a:prstGeom>
          <a:noFill/>
        </p:spPr>
        <p:txBody>
          <a:bodyPr wrap="square" rtlCol="0">
            <a:spAutoFit/>
          </a:bodyPr>
          <a:lstStyle/>
          <a:p>
            <a:r>
              <a:rPr lang="en-GB" dirty="0"/>
              <a:t>THE GRAPHS BEFORE ANY SIMULATION, RIGHT AFTER CREATING THE CHANNEL.</a:t>
            </a:r>
          </a:p>
        </p:txBody>
      </p:sp>
    </p:spTree>
    <p:extLst>
      <p:ext uri="{BB962C8B-B14F-4D97-AF65-F5344CB8AC3E}">
        <p14:creationId xmlns:p14="http://schemas.microsoft.com/office/powerpoint/2010/main" val="5093882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D142816B-8F18-AE9D-5C03-A9CD4E5A8F56}"/>
              </a:ext>
            </a:extLst>
          </p:cNvPr>
          <p:cNvSpPr>
            <a:spLocks noGrp="1"/>
          </p:cNvSpPr>
          <p:nvPr>
            <p:ph type="title"/>
          </p:nvPr>
        </p:nvSpPr>
        <p:spPr>
          <a:xfrm>
            <a:off x="492370" y="516835"/>
            <a:ext cx="3084844" cy="2103875"/>
          </a:xfrm>
        </p:spPr>
        <p:txBody>
          <a:bodyPr>
            <a:normAutofit/>
          </a:bodyPr>
          <a:lstStyle/>
          <a:p>
            <a:r>
              <a:rPr lang="en-GB" sz="2500" dirty="0">
                <a:solidFill>
                  <a:srgbClr val="FFFFFF"/>
                </a:solidFill>
                <a:latin typeface="Aptos Slab SemiBold" panose="020B0004020202020204" pitchFamily="34" charset="0"/>
              </a:rPr>
              <a:t>PROGRAM IMPLEMENTATION</a:t>
            </a:r>
          </a:p>
        </p:txBody>
      </p:sp>
      <p:sp>
        <p:nvSpPr>
          <p:cNvPr id="3" name="Content Placeholder 2">
            <a:extLst>
              <a:ext uri="{FF2B5EF4-FFF2-40B4-BE49-F238E27FC236}">
                <a16:creationId xmlns:a16="http://schemas.microsoft.com/office/drawing/2014/main" id="{8CC9BC12-5DC0-0DE2-BA40-98B04AD634A3}"/>
              </a:ext>
            </a:extLst>
          </p:cNvPr>
          <p:cNvSpPr>
            <a:spLocks noGrp="1"/>
          </p:cNvSpPr>
          <p:nvPr>
            <p:ph idx="1"/>
          </p:nvPr>
        </p:nvSpPr>
        <p:spPr>
          <a:xfrm>
            <a:off x="492371" y="2653800"/>
            <a:ext cx="3084844" cy="3335519"/>
          </a:xfrm>
        </p:spPr>
        <p:txBody>
          <a:bodyPr>
            <a:normAutofit fontScale="77500" lnSpcReduction="20000"/>
          </a:bodyPr>
          <a:lstStyle/>
          <a:p>
            <a:r>
              <a:rPr lang="en-GB" sz="1500" b="1" dirty="0">
                <a:solidFill>
                  <a:srgbClr val="FFFFFF"/>
                </a:solidFill>
                <a:latin typeface="Aptos Serif" panose="02020604070405020304" pitchFamily="18" charset="0"/>
                <a:cs typeface="Aptos Serif" panose="02020604070405020304" pitchFamily="18" charset="0"/>
              </a:rPr>
              <a:t>Main Functionalities of the Program</a:t>
            </a:r>
          </a:p>
          <a:p>
            <a:r>
              <a:rPr lang="en-GB" sz="1500" dirty="0">
                <a:solidFill>
                  <a:srgbClr val="FFFFFF"/>
                </a:solidFill>
                <a:latin typeface="Aptos Serif" panose="02020604070405020304" pitchFamily="18" charset="0"/>
                <a:cs typeface="Aptos Serif" panose="02020604070405020304" pitchFamily="18" charset="0"/>
              </a:rPr>
              <a:t>During the setup phase, serial communication, LCD display, LEDs, buzzer, and </a:t>
            </a:r>
            <a:r>
              <a:rPr lang="en-GB" sz="1500" dirty="0" err="1">
                <a:solidFill>
                  <a:srgbClr val="FFFFFF"/>
                </a:solidFill>
                <a:latin typeface="Aptos Serif" panose="02020604070405020304" pitchFamily="18" charset="0"/>
                <a:cs typeface="Aptos Serif" panose="02020604070405020304" pitchFamily="18" charset="0"/>
              </a:rPr>
              <a:t>WiFi</a:t>
            </a:r>
            <a:r>
              <a:rPr lang="en-GB" sz="1500" dirty="0">
                <a:solidFill>
                  <a:srgbClr val="FFFFFF"/>
                </a:solidFill>
                <a:latin typeface="Aptos Serif" panose="02020604070405020304" pitchFamily="18" charset="0"/>
                <a:cs typeface="Aptos Serif" panose="02020604070405020304" pitchFamily="18" charset="0"/>
              </a:rPr>
              <a:t> connectivity are initialized.</a:t>
            </a:r>
          </a:p>
          <a:p>
            <a:r>
              <a:rPr lang="en-GB" sz="1500" dirty="0">
                <a:solidFill>
                  <a:srgbClr val="FFFFFF"/>
                </a:solidFill>
                <a:latin typeface="Aptos Serif" panose="02020604070405020304" pitchFamily="18" charset="0"/>
                <a:cs typeface="Aptos Serif" panose="02020604070405020304" pitchFamily="18" charset="0"/>
              </a:rPr>
              <a:t>The ESP32 program performs five major tasks:</a:t>
            </a:r>
          </a:p>
          <a:p>
            <a:r>
              <a:rPr lang="en-GB" sz="1500" b="1" dirty="0">
                <a:solidFill>
                  <a:srgbClr val="FFFFFF"/>
                </a:solidFill>
                <a:latin typeface="Aptos Serif" panose="02020604070405020304" pitchFamily="18" charset="0"/>
                <a:cs typeface="Aptos Serif" panose="02020604070405020304" pitchFamily="18" charset="0"/>
              </a:rPr>
              <a:t>1. Sensor Data Acquisition</a:t>
            </a:r>
          </a:p>
          <a:p>
            <a:r>
              <a:rPr lang="en-GB" sz="1500" dirty="0">
                <a:solidFill>
                  <a:srgbClr val="FFFFFF"/>
                </a:solidFill>
                <a:latin typeface="Aptos Serif" panose="02020604070405020304" pitchFamily="18" charset="0"/>
                <a:cs typeface="Aptos Serif" panose="02020604070405020304" pitchFamily="18" charset="0"/>
              </a:rPr>
              <a:t>The </a:t>
            </a:r>
            <a:r>
              <a:rPr lang="en-GB" sz="1500" dirty="0" err="1">
                <a:solidFill>
                  <a:srgbClr val="FFFFFF"/>
                </a:solidFill>
                <a:latin typeface="Aptos Serif" panose="02020604070405020304" pitchFamily="18" charset="0"/>
                <a:cs typeface="Aptos Serif" panose="02020604070405020304" pitchFamily="18" charset="0"/>
              </a:rPr>
              <a:t>analog</a:t>
            </a:r>
            <a:r>
              <a:rPr lang="en-GB" sz="1500" dirty="0">
                <a:solidFill>
                  <a:srgbClr val="FFFFFF"/>
                </a:solidFill>
                <a:latin typeface="Aptos Serif" panose="02020604070405020304" pitchFamily="18" charset="0"/>
                <a:cs typeface="Aptos Serif" panose="02020604070405020304" pitchFamily="18" charset="0"/>
              </a:rPr>
              <a:t> output of the MQ-2 gas sensor connected to GPIO34 is continuously monitored.</a:t>
            </a:r>
          </a:p>
          <a:p>
            <a:endParaRPr lang="en-GB" sz="1500" dirty="0">
              <a:solidFill>
                <a:srgbClr val="FFFFFF"/>
              </a:solidFill>
              <a:latin typeface="Aptos Serif" panose="02020604070405020304" pitchFamily="18" charset="0"/>
              <a:cs typeface="Aptos Serif" panose="02020604070405020304" pitchFamily="18" charset="0"/>
            </a:endParaRPr>
          </a:p>
          <a:p>
            <a:r>
              <a:rPr lang="en-GB" sz="1500" b="1" dirty="0">
                <a:solidFill>
                  <a:srgbClr val="FFFFFF"/>
                </a:solidFill>
                <a:latin typeface="Aptos Serif" panose="02020604070405020304" pitchFamily="18" charset="0"/>
                <a:cs typeface="Aptos Serif" panose="02020604070405020304" pitchFamily="18" charset="0"/>
              </a:rPr>
              <a:t>2. Gas Leak Detection</a:t>
            </a:r>
          </a:p>
          <a:p>
            <a:r>
              <a:rPr lang="en-GB" sz="1500" dirty="0">
                <a:solidFill>
                  <a:srgbClr val="FFFFFF"/>
                </a:solidFill>
                <a:latin typeface="Aptos Serif" panose="02020604070405020304" pitchFamily="18" charset="0"/>
                <a:cs typeface="Aptos Serif" panose="02020604070405020304" pitchFamily="18" charset="0"/>
              </a:rPr>
              <a:t>The sensed gas concentration is compared against a predefined threshold value of </a:t>
            </a:r>
            <a:r>
              <a:rPr lang="en-GB" sz="1500" b="1" dirty="0">
                <a:solidFill>
                  <a:srgbClr val="FFFFFF"/>
                </a:solidFill>
                <a:latin typeface="Aptos Serif" panose="02020604070405020304" pitchFamily="18" charset="0"/>
                <a:cs typeface="Aptos Serif" panose="02020604070405020304" pitchFamily="18" charset="0"/>
              </a:rPr>
              <a:t>2600 ADC units</a:t>
            </a:r>
            <a:endParaRPr lang="en-GB" sz="1500" dirty="0">
              <a:solidFill>
                <a:srgbClr val="FFFFFF"/>
              </a:solidFill>
              <a:latin typeface="Aptos Serif" panose="02020604070405020304" pitchFamily="18" charset="0"/>
              <a:cs typeface="Aptos Serif" panose="02020604070405020304" pitchFamily="18" charset="0"/>
            </a:endParaRPr>
          </a:p>
          <a:p>
            <a:endParaRPr lang="en-GB" sz="900" dirty="0">
              <a:solidFill>
                <a:srgbClr val="FFFFFF"/>
              </a:solidFill>
            </a:endParaRPr>
          </a:p>
        </p:txBody>
      </p:sp>
      <p:sp>
        <p:nvSpPr>
          <p:cNvPr id="18" name="Rectangle 17">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pic>
        <p:nvPicPr>
          <p:cNvPr id="9" name="Picture 8">
            <a:extLst>
              <a:ext uri="{FF2B5EF4-FFF2-40B4-BE49-F238E27FC236}">
                <a16:creationId xmlns:a16="http://schemas.microsoft.com/office/drawing/2014/main" id="{7E67E543-75D9-008F-27CF-E8950803734D}"/>
              </a:ext>
            </a:extLst>
          </p:cNvPr>
          <p:cNvPicPr>
            <a:picLocks noChangeAspect="1"/>
          </p:cNvPicPr>
          <p:nvPr/>
        </p:nvPicPr>
        <p:blipFill>
          <a:blip r:embed="rId2"/>
          <a:stretch>
            <a:fillRect/>
          </a:stretch>
        </p:blipFill>
        <p:spPr>
          <a:xfrm>
            <a:off x="4742017" y="692773"/>
            <a:ext cx="6798082" cy="5472454"/>
          </a:xfrm>
          <a:prstGeom prst="rect">
            <a:avLst/>
          </a:prstGeom>
        </p:spPr>
      </p:pic>
    </p:spTree>
    <p:extLst>
      <p:ext uri="{BB962C8B-B14F-4D97-AF65-F5344CB8AC3E}">
        <p14:creationId xmlns:p14="http://schemas.microsoft.com/office/powerpoint/2010/main" val="14685125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F35747-2822-4D06-BE10-CD33AC6B09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045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C2C4466-5B1B-4361-B9D9-39ED9A8A34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 y="0"/>
            <a:ext cx="754787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230B06D8-6528-DEE8-DDE0-3ADC2F2E7B38}"/>
              </a:ext>
            </a:extLst>
          </p:cNvPr>
          <p:cNvSpPr>
            <a:spLocks noGrp="1"/>
          </p:cNvSpPr>
          <p:nvPr>
            <p:ph type="title"/>
          </p:nvPr>
        </p:nvSpPr>
        <p:spPr>
          <a:xfrm>
            <a:off x="1097280" y="516835"/>
            <a:ext cx="5977937" cy="1666501"/>
          </a:xfrm>
        </p:spPr>
        <p:txBody>
          <a:bodyPr>
            <a:normAutofit/>
          </a:bodyPr>
          <a:lstStyle/>
          <a:p>
            <a:r>
              <a:rPr lang="en-GB" sz="4000">
                <a:solidFill>
                  <a:srgbClr val="FFFFFF"/>
                </a:solidFill>
                <a:latin typeface="Aptos Slab SemiBold" panose="020B0004020202020204" pitchFamily="34" charset="0"/>
              </a:rPr>
              <a:t>PROGRAM IMPLEMENTATION</a:t>
            </a:r>
            <a:endParaRPr lang="en-GB" sz="4000">
              <a:solidFill>
                <a:srgbClr val="FFFFFF"/>
              </a:solidFill>
            </a:endParaRPr>
          </a:p>
        </p:txBody>
      </p:sp>
      <p:sp>
        <p:nvSpPr>
          <p:cNvPr id="3" name="Content Placeholder 2">
            <a:extLst>
              <a:ext uri="{FF2B5EF4-FFF2-40B4-BE49-F238E27FC236}">
                <a16:creationId xmlns:a16="http://schemas.microsoft.com/office/drawing/2014/main" id="{CA50D4D2-597F-EB76-5DA2-E8772EE6AB80}"/>
              </a:ext>
            </a:extLst>
          </p:cNvPr>
          <p:cNvSpPr>
            <a:spLocks noGrp="1"/>
          </p:cNvSpPr>
          <p:nvPr>
            <p:ph idx="1"/>
          </p:nvPr>
        </p:nvSpPr>
        <p:spPr>
          <a:xfrm>
            <a:off x="1097279" y="2236304"/>
            <a:ext cx="5977938" cy="3652667"/>
          </a:xfrm>
        </p:spPr>
        <p:txBody>
          <a:bodyPr>
            <a:normAutofit/>
          </a:bodyPr>
          <a:lstStyle/>
          <a:p>
            <a:r>
              <a:rPr lang="en-GB" sz="1800" b="1" dirty="0">
                <a:solidFill>
                  <a:srgbClr val="FFFFFF"/>
                </a:solidFill>
                <a:latin typeface="Aptos Serif" panose="02020604070405020304" pitchFamily="18" charset="0"/>
                <a:cs typeface="Aptos Serif" panose="02020604070405020304" pitchFamily="18" charset="0"/>
              </a:rPr>
              <a:t>3. Local Alert Generation</a:t>
            </a:r>
          </a:p>
          <a:p>
            <a:r>
              <a:rPr lang="en-GB" sz="1800" dirty="0">
                <a:solidFill>
                  <a:srgbClr val="FFFFFF"/>
                </a:solidFill>
                <a:latin typeface="Aptos Serif" panose="02020604070405020304" pitchFamily="18" charset="0"/>
                <a:cs typeface="Aptos Serif" panose="02020604070405020304" pitchFamily="18" charset="0"/>
              </a:rPr>
              <a:t>Depending on the gas concentration, the ESP32 controls the LEDs, buzzer, and LCD display.</a:t>
            </a:r>
          </a:p>
          <a:p>
            <a:r>
              <a:rPr lang="en-GB" sz="1800" b="1" dirty="0">
                <a:solidFill>
                  <a:srgbClr val="FFFFFF"/>
                </a:solidFill>
                <a:latin typeface="Aptos Serif" panose="02020604070405020304" pitchFamily="18" charset="0"/>
                <a:cs typeface="Aptos Serif" panose="02020604070405020304" pitchFamily="18" charset="0"/>
              </a:rPr>
              <a:t>4. </a:t>
            </a:r>
            <a:r>
              <a:rPr lang="en-GB" sz="1800" b="1" dirty="0" err="1">
                <a:solidFill>
                  <a:srgbClr val="FFFFFF"/>
                </a:solidFill>
                <a:latin typeface="Aptos Serif" panose="02020604070405020304" pitchFamily="18" charset="0"/>
                <a:cs typeface="Aptos Serif" panose="02020604070405020304" pitchFamily="18" charset="0"/>
              </a:rPr>
              <a:t>WiFi</a:t>
            </a:r>
            <a:r>
              <a:rPr lang="en-GB" sz="1800" b="1" dirty="0">
                <a:solidFill>
                  <a:srgbClr val="FFFFFF"/>
                </a:solidFill>
                <a:latin typeface="Aptos Serif" panose="02020604070405020304" pitchFamily="18" charset="0"/>
                <a:cs typeface="Aptos Serif" panose="02020604070405020304" pitchFamily="18" charset="0"/>
              </a:rPr>
              <a:t> Connectivity</a:t>
            </a:r>
          </a:p>
          <a:p>
            <a:r>
              <a:rPr lang="en-GB" sz="1800" dirty="0">
                <a:solidFill>
                  <a:srgbClr val="FFFFFF"/>
                </a:solidFill>
                <a:latin typeface="Aptos Serif" panose="02020604070405020304" pitchFamily="18" charset="0"/>
                <a:cs typeface="Aptos Serif" panose="02020604070405020304" pitchFamily="18" charset="0"/>
              </a:rPr>
              <a:t>The ESP32 establishes a connection with the </a:t>
            </a:r>
            <a:r>
              <a:rPr lang="en-GB" sz="1800" dirty="0" err="1">
                <a:solidFill>
                  <a:srgbClr val="FFFFFF"/>
                </a:solidFill>
                <a:latin typeface="Aptos Serif" panose="02020604070405020304" pitchFamily="18" charset="0"/>
                <a:cs typeface="Aptos Serif" panose="02020604070405020304" pitchFamily="18" charset="0"/>
              </a:rPr>
              <a:t>Wokwi</a:t>
            </a:r>
            <a:r>
              <a:rPr lang="en-GB" sz="1800" dirty="0">
                <a:solidFill>
                  <a:srgbClr val="FFFFFF"/>
                </a:solidFill>
                <a:latin typeface="Aptos Serif" panose="02020604070405020304" pitchFamily="18" charset="0"/>
                <a:cs typeface="Aptos Serif" panose="02020604070405020304" pitchFamily="18" charset="0"/>
              </a:rPr>
              <a:t>-GUEST network to enable cloud communication.</a:t>
            </a:r>
          </a:p>
          <a:p>
            <a:r>
              <a:rPr lang="en-GB" sz="1800" b="1" dirty="0">
                <a:solidFill>
                  <a:srgbClr val="FFFFFF"/>
                </a:solidFill>
                <a:latin typeface="Aptos Serif" panose="02020604070405020304" pitchFamily="18" charset="0"/>
                <a:cs typeface="Aptos Serif" panose="02020604070405020304" pitchFamily="18" charset="0"/>
              </a:rPr>
              <a:t>5. </a:t>
            </a:r>
            <a:r>
              <a:rPr lang="en-GB" sz="1800" b="1" dirty="0" err="1">
                <a:solidFill>
                  <a:srgbClr val="FFFFFF"/>
                </a:solidFill>
                <a:latin typeface="Aptos Serif" panose="02020604070405020304" pitchFamily="18" charset="0"/>
                <a:cs typeface="Aptos Serif" panose="02020604070405020304" pitchFamily="18" charset="0"/>
              </a:rPr>
              <a:t>ThingSpeak</a:t>
            </a:r>
            <a:r>
              <a:rPr lang="en-GB" sz="1800" b="1" dirty="0">
                <a:solidFill>
                  <a:srgbClr val="FFFFFF"/>
                </a:solidFill>
                <a:latin typeface="Aptos Serif" panose="02020604070405020304" pitchFamily="18" charset="0"/>
                <a:cs typeface="Aptos Serif" panose="02020604070405020304" pitchFamily="18" charset="0"/>
              </a:rPr>
              <a:t> Data Upload</a:t>
            </a:r>
          </a:p>
          <a:p>
            <a:r>
              <a:rPr lang="en-GB" sz="1800" dirty="0">
                <a:solidFill>
                  <a:srgbClr val="FFFFFF"/>
                </a:solidFill>
                <a:latin typeface="Aptos Serif" panose="02020604070405020304" pitchFamily="18" charset="0"/>
                <a:cs typeface="Aptos Serif" panose="02020604070405020304" pitchFamily="18" charset="0"/>
              </a:rPr>
              <a:t>Gas concentration and leak status are uploaded to </a:t>
            </a:r>
            <a:r>
              <a:rPr lang="en-GB" sz="1800" dirty="0" err="1">
                <a:solidFill>
                  <a:srgbClr val="FFFFFF"/>
                </a:solidFill>
                <a:latin typeface="Aptos Serif" panose="02020604070405020304" pitchFamily="18" charset="0"/>
                <a:cs typeface="Aptos Serif" panose="02020604070405020304" pitchFamily="18" charset="0"/>
              </a:rPr>
              <a:t>ThingSpeak</a:t>
            </a:r>
            <a:r>
              <a:rPr lang="en-GB" sz="1800" dirty="0">
                <a:solidFill>
                  <a:srgbClr val="FFFFFF"/>
                </a:solidFill>
                <a:latin typeface="Aptos Serif" panose="02020604070405020304" pitchFamily="18" charset="0"/>
                <a:cs typeface="Aptos Serif" panose="02020604070405020304" pitchFamily="18" charset="0"/>
              </a:rPr>
              <a:t> every 15 seconds using HTTP requests</a:t>
            </a:r>
          </a:p>
          <a:p>
            <a:endParaRPr lang="en-GB" sz="1800" dirty="0">
              <a:solidFill>
                <a:srgbClr val="FFFFFF"/>
              </a:solidFill>
            </a:endParaRPr>
          </a:p>
        </p:txBody>
      </p:sp>
      <p:sp>
        <p:nvSpPr>
          <p:cNvPr id="16" name="Rectangle 15">
            <a:extLst>
              <a:ext uri="{FF2B5EF4-FFF2-40B4-BE49-F238E27FC236}">
                <a16:creationId xmlns:a16="http://schemas.microsoft.com/office/drawing/2014/main" id="{FD745DAE-5A8A-44FA-937C-CD65CF7AE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7894"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pic>
        <p:nvPicPr>
          <p:cNvPr id="5" name="Picture 4">
            <a:extLst>
              <a:ext uri="{FF2B5EF4-FFF2-40B4-BE49-F238E27FC236}">
                <a16:creationId xmlns:a16="http://schemas.microsoft.com/office/drawing/2014/main" id="{EF5969AF-B3C5-F6C6-161F-31E45927D444}"/>
              </a:ext>
            </a:extLst>
          </p:cNvPr>
          <p:cNvPicPr>
            <a:picLocks noChangeAspect="1"/>
          </p:cNvPicPr>
          <p:nvPr/>
        </p:nvPicPr>
        <p:blipFill>
          <a:blip r:embed="rId2"/>
          <a:stretch>
            <a:fillRect/>
          </a:stretch>
        </p:blipFill>
        <p:spPr>
          <a:xfrm>
            <a:off x="8084579" y="1378414"/>
            <a:ext cx="3855690" cy="857890"/>
          </a:xfrm>
          <a:prstGeom prst="rect">
            <a:avLst/>
          </a:prstGeom>
        </p:spPr>
      </p:pic>
      <p:sp>
        <p:nvSpPr>
          <p:cNvPr id="18" name="Rectangle 17">
            <a:extLst>
              <a:ext uri="{FF2B5EF4-FFF2-40B4-BE49-F238E27FC236}">
                <a16:creationId xmlns:a16="http://schemas.microsoft.com/office/drawing/2014/main" id="{67696AA1-B1DD-4C75-9AC1-69EE9F65FF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7894" y="3396996"/>
            <a:ext cx="464256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D320B96C-EC78-99D9-7795-D2BD533F5D4E}"/>
              </a:ext>
            </a:extLst>
          </p:cNvPr>
          <p:cNvPicPr>
            <a:picLocks noChangeAspect="1"/>
          </p:cNvPicPr>
          <p:nvPr/>
        </p:nvPicPr>
        <p:blipFill>
          <a:blip r:embed="rId3"/>
          <a:stretch>
            <a:fillRect/>
          </a:stretch>
        </p:blipFill>
        <p:spPr>
          <a:xfrm>
            <a:off x="8084579" y="3837356"/>
            <a:ext cx="3609294" cy="2481389"/>
          </a:xfrm>
          <a:prstGeom prst="rect">
            <a:avLst/>
          </a:prstGeom>
        </p:spPr>
      </p:pic>
    </p:spTree>
    <p:extLst>
      <p:ext uri="{BB962C8B-B14F-4D97-AF65-F5344CB8AC3E}">
        <p14:creationId xmlns:p14="http://schemas.microsoft.com/office/powerpoint/2010/main" val="1763645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D441-80E1-B4DC-101F-A3562100B4F1}"/>
              </a:ext>
            </a:extLst>
          </p:cNvPr>
          <p:cNvSpPr>
            <a:spLocks noGrp="1"/>
          </p:cNvSpPr>
          <p:nvPr>
            <p:ph type="title"/>
          </p:nvPr>
        </p:nvSpPr>
        <p:spPr/>
        <p:txBody>
          <a:bodyPr/>
          <a:lstStyle/>
          <a:p>
            <a:r>
              <a:rPr lang="en-GB" dirty="0">
                <a:latin typeface="Aptos Slab SemiBold" panose="020B0004020202020204" pitchFamily="34" charset="0"/>
              </a:rPr>
              <a:t>EXPERIMENTAL RESULT: </a:t>
            </a:r>
            <a:br>
              <a:rPr lang="en-GB" dirty="0">
                <a:latin typeface="Aptos Slab SemiBold" panose="020B0004020202020204" pitchFamily="34" charset="0"/>
              </a:rPr>
            </a:br>
            <a:r>
              <a:rPr lang="en-GB" dirty="0">
                <a:latin typeface="Aptos Slab SemiBold" panose="020B0004020202020204" pitchFamily="34" charset="0"/>
              </a:rPr>
              <a:t>SAFE-TO-LEAK TEST</a:t>
            </a:r>
          </a:p>
        </p:txBody>
      </p:sp>
      <p:sp>
        <p:nvSpPr>
          <p:cNvPr id="3" name="Content Placeholder 2">
            <a:extLst>
              <a:ext uri="{FF2B5EF4-FFF2-40B4-BE49-F238E27FC236}">
                <a16:creationId xmlns:a16="http://schemas.microsoft.com/office/drawing/2014/main" id="{01B86EE0-A553-A3FE-39E2-8ADD785A02BB}"/>
              </a:ext>
            </a:extLst>
          </p:cNvPr>
          <p:cNvSpPr>
            <a:spLocks noGrp="1"/>
          </p:cNvSpPr>
          <p:nvPr>
            <p:ph idx="1"/>
          </p:nvPr>
        </p:nvSpPr>
        <p:spPr/>
        <p:txBody>
          <a:bodyPr/>
          <a:lstStyle/>
          <a:p>
            <a:r>
              <a:rPr lang="en-GB" b="1" dirty="0">
                <a:latin typeface="Aptos Serif" panose="02020604070405020304" pitchFamily="18" charset="0"/>
                <a:cs typeface="Aptos Serif" panose="02020604070405020304" pitchFamily="18" charset="0"/>
              </a:rPr>
              <a:t>Test Procedure</a:t>
            </a:r>
          </a:p>
          <a:p>
            <a:r>
              <a:rPr lang="en-GB" dirty="0">
                <a:latin typeface="Aptos Serif" panose="02020604070405020304" pitchFamily="18" charset="0"/>
                <a:cs typeface="Aptos Serif" panose="02020604070405020304" pitchFamily="18" charset="0"/>
              </a:rPr>
              <a:t>The system was initially operated under safe conditions by setting the MQ-2 gas sensor to its minimum concentration level. Halfway through, the gas concentration was gradually increased to simulate a leakage scenario. The response of the local alert system and the data uploaded to </a:t>
            </a:r>
            <a:r>
              <a:rPr lang="en-GB" dirty="0" err="1">
                <a:latin typeface="Aptos Serif" panose="02020604070405020304" pitchFamily="18" charset="0"/>
                <a:cs typeface="Aptos Serif" panose="02020604070405020304" pitchFamily="18" charset="0"/>
              </a:rPr>
              <a:t>ThingSpeak</a:t>
            </a:r>
            <a:r>
              <a:rPr lang="en-GB" dirty="0">
                <a:latin typeface="Aptos Serif" panose="02020604070405020304" pitchFamily="18" charset="0"/>
                <a:cs typeface="Aptos Serif" panose="02020604070405020304" pitchFamily="18" charset="0"/>
              </a:rPr>
              <a:t> were observed.</a:t>
            </a:r>
          </a:p>
          <a:p>
            <a:endParaRPr lang="en-GB" dirty="0"/>
          </a:p>
          <a:p>
            <a:endParaRPr lang="en-GB" dirty="0"/>
          </a:p>
        </p:txBody>
      </p:sp>
      <p:graphicFrame>
        <p:nvGraphicFramePr>
          <p:cNvPr id="4" name="Table 3">
            <a:extLst>
              <a:ext uri="{FF2B5EF4-FFF2-40B4-BE49-F238E27FC236}">
                <a16:creationId xmlns:a16="http://schemas.microsoft.com/office/drawing/2014/main" id="{4D046E11-9E5E-B26D-DA06-E884704497E3}"/>
              </a:ext>
            </a:extLst>
          </p:cNvPr>
          <p:cNvGraphicFramePr>
            <a:graphicFrameLocks noGrp="1"/>
          </p:cNvGraphicFramePr>
          <p:nvPr>
            <p:extLst>
              <p:ext uri="{D42A27DB-BD31-4B8C-83A1-F6EECF244321}">
                <p14:modId xmlns:p14="http://schemas.microsoft.com/office/powerpoint/2010/main" val="4237281941"/>
              </p:ext>
            </p:extLst>
          </p:nvPr>
        </p:nvGraphicFramePr>
        <p:xfrm>
          <a:off x="2032000" y="3550548"/>
          <a:ext cx="8127999" cy="25908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588815511"/>
                    </a:ext>
                  </a:extLst>
                </a:gridCol>
                <a:gridCol w="2709333">
                  <a:extLst>
                    <a:ext uri="{9D8B030D-6E8A-4147-A177-3AD203B41FA5}">
                      <a16:colId xmlns:a16="http://schemas.microsoft.com/office/drawing/2014/main" val="2133474669"/>
                    </a:ext>
                  </a:extLst>
                </a:gridCol>
                <a:gridCol w="2709333">
                  <a:extLst>
                    <a:ext uri="{9D8B030D-6E8A-4147-A177-3AD203B41FA5}">
                      <a16:colId xmlns:a16="http://schemas.microsoft.com/office/drawing/2014/main" val="3158393227"/>
                    </a:ext>
                  </a:extLst>
                </a:gridCol>
              </a:tblGrid>
              <a:tr h="370840">
                <a:tc>
                  <a:txBody>
                    <a:bodyPr/>
                    <a:lstStyle/>
                    <a:p>
                      <a:r>
                        <a:rPr lang="en-GB" dirty="0"/>
                        <a:t>PARAMETER</a:t>
                      </a:r>
                    </a:p>
                  </a:txBody>
                  <a:tcPr/>
                </a:tc>
                <a:tc>
                  <a:txBody>
                    <a:bodyPr/>
                    <a:lstStyle/>
                    <a:p>
                      <a:r>
                        <a:rPr lang="en-GB" dirty="0"/>
                        <a:t>SAFE CONDITION</a:t>
                      </a:r>
                    </a:p>
                  </a:txBody>
                  <a:tcPr/>
                </a:tc>
                <a:tc>
                  <a:txBody>
                    <a:bodyPr/>
                    <a:lstStyle/>
                    <a:p>
                      <a:r>
                        <a:rPr lang="en-GB" dirty="0"/>
                        <a:t>LEAK CONDITION</a:t>
                      </a:r>
                    </a:p>
                  </a:txBody>
                  <a:tcPr/>
                </a:tc>
                <a:extLst>
                  <a:ext uri="{0D108BD9-81ED-4DB2-BD59-A6C34878D82A}">
                    <a16:rowId xmlns:a16="http://schemas.microsoft.com/office/drawing/2014/main" val="1430986764"/>
                  </a:ext>
                </a:extLst>
              </a:tr>
              <a:tr h="370840">
                <a:tc>
                  <a:txBody>
                    <a:bodyPr/>
                    <a:lstStyle/>
                    <a:p>
                      <a:r>
                        <a:rPr lang="en-GB" dirty="0"/>
                        <a:t>GAS CONCENTRATION</a:t>
                      </a:r>
                    </a:p>
                  </a:txBody>
                  <a:tcPr/>
                </a:tc>
                <a:tc>
                  <a:txBody>
                    <a:bodyPr/>
                    <a:lstStyle/>
                    <a:p>
                      <a:r>
                        <a:rPr lang="en-GB" dirty="0"/>
                        <a:t>843</a:t>
                      </a:r>
                    </a:p>
                  </a:txBody>
                  <a:tcPr/>
                </a:tc>
                <a:tc>
                  <a:txBody>
                    <a:bodyPr/>
                    <a:lstStyle/>
                    <a:p>
                      <a:r>
                        <a:rPr lang="en-GB" dirty="0"/>
                        <a:t>4041</a:t>
                      </a:r>
                    </a:p>
                  </a:txBody>
                  <a:tcPr/>
                </a:tc>
                <a:extLst>
                  <a:ext uri="{0D108BD9-81ED-4DB2-BD59-A6C34878D82A}">
                    <a16:rowId xmlns:a16="http://schemas.microsoft.com/office/drawing/2014/main" val="1201507830"/>
                  </a:ext>
                </a:extLst>
              </a:tr>
              <a:tr h="0">
                <a:tc>
                  <a:txBody>
                    <a:bodyPr/>
                    <a:lstStyle/>
                    <a:p>
                      <a:r>
                        <a:rPr lang="en-GB" dirty="0"/>
                        <a:t>STATUS VALUE</a:t>
                      </a:r>
                    </a:p>
                  </a:txBody>
                  <a:tcPr/>
                </a:tc>
                <a:tc>
                  <a:txBody>
                    <a:bodyPr/>
                    <a:lstStyle/>
                    <a:p>
                      <a:r>
                        <a:rPr lang="en-GB" dirty="0"/>
                        <a:t>0</a:t>
                      </a:r>
                    </a:p>
                  </a:txBody>
                  <a:tcPr/>
                </a:tc>
                <a:tc>
                  <a:txBody>
                    <a:bodyPr/>
                    <a:lstStyle/>
                    <a:p>
                      <a:r>
                        <a:rPr lang="en-GB" dirty="0"/>
                        <a:t>1</a:t>
                      </a:r>
                    </a:p>
                  </a:txBody>
                  <a:tcPr/>
                </a:tc>
                <a:extLst>
                  <a:ext uri="{0D108BD9-81ED-4DB2-BD59-A6C34878D82A}">
                    <a16:rowId xmlns:a16="http://schemas.microsoft.com/office/drawing/2014/main" val="3019650275"/>
                  </a:ext>
                </a:extLst>
              </a:tr>
              <a:tr h="370840">
                <a:tc>
                  <a:txBody>
                    <a:bodyPr/>
                    <a:lstStyle/>
                    <a:p>
                      <a:r>
                        <a:rPr lang="en-GB" dirty="0"/>
                        <a:t>LCD DISPLAY</a:t>
                      </a:r>
                    </a:p>
                  </a:txBody>
                  <a:tcPr/>
                </a:tc>
                <a:tc>
                  <a:txBody>
                    <a:bodyPr/>
                    <a:lstStyle/>
                    <a:p>
                      <a:r>
                        <a:rPr lang="en-GB" dirty="0"/>
                        <a:t>ALL CLEAR</a:t>
                      </a:r>
                    </a:p>
                  </a:txBody>
                  <a:tcPr/>
                </a:tc>
                <a:tc>
                  <a:txBody>
                    <a:bodyPr/>
                    <a:lstStyle/>
                    <a:p>
                      <a:r>
                        <a:rPr lang="en-GB" dirty="0"/>
                        <a:t>GAS DETECTED!</a:t>
                      </a:r>
                    </a:p>
                  </a:txBody>
                  <a:tcPr/>
                </a:tc>
                <a:extLst>
                  <a:ext uri="{0D108BD9-81ED-4DB2-BD59-A6C34878D82A}">
                    <a16:rowId xmlns:a16="http://schemas.microsoft.com/office/drawing/2014/main" val="681952832"/>
                  </a:ext>
                </a:extLst>
              </a:tr>
              <a:tr h="370840">
                <a:tc>
                  <a:txBody>
                    <a:bodyPr/>
                    <a:lstStyle/>
                    <a:p>
                      <a:r>
                        <a:rPr lang="en-GB" dirty="0"/>
                        <a:t>GREEN LED</a:t>
                      </a:r>
                    </a:p>
                  </a:txBody>
                  <a:tcPr/>
                </a:tc>
                <a:tc>
                  <a:txBody>
                    <a:bodyPr/>
                    <a:lstStyle/>
                    <a:p>
                      <a:r>
                        <a:rPr lang="en-GB" dirty="0"/>
                        <a:t>ON</a:t>
                      </a:r>
                    </a:p>
                  </a:txBody>
                  <a:tcPr/>
                </a:tc>
                <a:tc>
                  <a:txBody>
                    <a:bodyPr/>
                    <a:lstStyle/>
                    <a:p>
                      <a:r>
                        <a:rPr lang="en-GB" dirty="0"/>
                        <a:t>OFF</a:t>
                      </a:r>
                    </a:p>
                  </a:txBody>
                  <a:tcPr/>
                </a:tc>
                <a:extLst>
                  <a:ext uri="{0D108BD9-81ED-4DB2-BD59-A6C34878D82A}">
                    <a16:rowId xmlns:a16="http://schemas.microsoft.com/office/drawing/2014/main" val="41295333"/>
                  </a:ext>
                </a:extLst>
              </a:tr>
              <a:tr h="370840">
                <a:tc>
                  <a:txBody>
                    <a:bodyPr/>
                    <a:lstStyle/>
                    <a:p>
                      <a:r>
                        <a:rPr lang="en-GB" dirty="0"/>
                        <a:t>RED LED</a:t>
                      </a:r>
                    </a:p>
                  </a:txBody>
                  <a:tcPr/>
                </a:tc>
                <a:tc>
                  <a:txBody>
                    <a:bodyPr/>
                    <a:lstStyle/>
                    <a:p>
                      <a:r>
                        <a:rPr lang="en-GB" dirty="0"/>
                        <a:t>OFF</a:t>
                      </a:r>
                    </a:p>
                  </a:txBody>
                  <a:tcPr/>
                </a:tc>
                <a:tc>
                  <a:txBody>
                    <a:bodyPr/>
                    <a:lstStyle/>
                    <a:p>
                      <a:r>
                        <a:rPr lang="en-GB" dirty="0"/>
                        <a:t>ON</a:t>
                      </a:r>
                    </a:p>
                  </a:txBody>
                  <a:tcPr/>
                </a:tc>
                <a:extLst>
                  <a:ext uri="{0D108BD9-81ED-4DB2-BD59-A6C34878D82A}">
                    <a16:rowId xmlns:a16="http://schemas.microsoft.com/office/drawing/2014/main" val="2149474251"/>
                  </a:ext>
                </a:extLst>
              </a:tr>
              <a:tr h="370840">
                <a:tc>
                  <a:txBody>
                    <a:bodyPr/>
                    <a:lstStyle/>
                    <a:p>
                      <a:r>
                        <a:rPr lang="en-GB" dirty="0"/>
                        <a:t>BUZZER</a:t>
                      </a:r>
                    </a:p>
                  </a:txBody>
                  <a:tcPr/>
                </a:tc>
                <a:tc>
                  <a:txBody>
                    <a:bodyPr/>
                    <a:lstStyle/>
                    <a:p>
                      <a:r>
                        <a:rPr lang="en-GB" dirty="0"/>
                        <a:t>OFF</a:t>
                      </a:r>
                    </a:p>
                  </a:txBody>
                  <a:tcPr/>
                </a:tc>
                <a:tc>
                  <a:txBody>
                    <a:bodyPr/>
                    <a:lstStyle/>
                    <a:p>
                      <a:r>
                        <a:rPr lang="en-GB" dirty="0"/>
                        <a:t>ON</a:t>
                      </a:r>
                    </a:p>
                  </a:txBody>
                  <a:tcPr/>
                </a:tc>
                <a:extLst>
                  <a:ext uri="{0D108BD9-81ED-4DB2-BD59-A6C34878D82A}">
                    <a16:rowId xmlns:a16="http://schemas.microsoft.com/office/drawing/2014/main" val="190213476"/>
                  </a:ext>
                </a:extLst>
              </a:tr>
            </a:tbl>
          </a:graphicData>
        </a:graphic>
      </p:graphicFrame>
    </p:spTree>
    <p:extLst>
      <p:ext uri="{BB962C8B-B14F-4D97-AF65-F5344CB8AC3E}">
        <p14:creationId xmlns:p14="http://schemas.microsoft.com/office/powerpoint/2010/main" val="16854354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E73E79-B4EC-DE3B-354F-7FAB12FCCA40}"/>
              </a:ext>
            </a:extLst>
          </p:cNvPr>
          <p:cNvSpPr>
            <a:spLocks noGrp="1"/>
          </p:cNvSpPr>
          <p:nvPr>
            <p:ph type="title"/>
          </p:nvPr>
        </p:nvSpPr>
        <p:spPr>
          <a:xfrm>
            <a:off x="7859485" y="634946"/>
            <a:ext cx="3690257" cy="1450757"/>
          </a:xfrm>
        </p:spPr>
        <p:txBody>
          <a:bodyPr>
            <a:normAutofit/>
          </a:bodyPr>
          <a:lstStyle/>
          <a:p>
            <a:r>
              <a:rPr lang="en-GB" sz="3000">
                <a:latin typeface="Aptos Slab SemiBold" panose="020B0004020202020204" pitchFamily="34" charset="0"/>
              </a:rPr>
              <a:t>EXPERIMENTAL RESULT: </a:t>
            </a:r>
            <a:br>
              <a:rPr lang="en-GB" sz="3000">
                <a:latin typeface="Aptos Slab SemiBold" panose="020B0004020202020204" pitchFamily="34" charset="0"/>
              </a:rPr>
            </a:br>
            <a:r>
              <a:rPr lang="en-GB" sz="3000">
                <a:latin typeface="Aptos Slab SemiBold" panose="020B0004020202020204" pitchFamily="34" charset="0"/>
              </a:rPr>
              <a:t>SAFE-TO-LEAK TEST</a:t>
            </a:r>
            <a:endParaRPr lang="en-GB" sz="3000"/>
          </a:p>
        </p:txBody>
      </p:sp>
      <p:pic>
        <p:nvPicPr>
          <p:cNvPr id="5" name="Picture 4">
            <a:extLst>
              <a:ext uri="{FF2B5EF4-FFF2-40B4-BE49-F238E27FC236}">
                <a16:creationId xmlns:a16="http://schemas.microsoft.com/office/drawing/2014/main" id="{C81B76C9-4517-5543-47C6-9DF62B02A96F}"/>
              </a:ext>
            </a:extLst>
          </p:cNvPr>
          <p:cNvPicPr>
            <a:picLocks noChangeAspect="1"/>
          </p:cNvPicPr>
          <p:nvPr/>
        </p:nvPicPr>
        <p:blipFill>
          <a:blip r:embed="rId2"/>
          <a:stretch>
            <a:fillRect/>
          </a:stretch>
        </p:blipFill>
        <p:spPr>
          <a:xfrm>
            <a:off x="633999" y="1785765"/>
            <a:ext cx="6909801" cy="3023037"/>
          </a:xfrm>
          <a:prstGeom prst="rect">
            <a:avLst/>
          </a:prstGeom>
        </p:spPr>
      </p:pic>
      <p:cxnSp>
        <p:nvCxnSpPr>
          <p:cNvPr id="12" name="Straight Connector 11">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3EEA9F0-AF93-8902-5248-ECD4D509429E}"/>
              </a:ext>
            </a:extLst>
          </p:cNvPr>
          <p:cNvSpPr>
            <a:spLocks noGrp="1"/>
          </p:cNvSpPr>
          <p:nvPr>
            <p:ph idx="1"/>
          </p:nvPr>
        </p:nvSpPr>
        <p:spPr>
          <a:xfrm>
            <a:off x="7859485" y="2198914"/>
            <a:ext cx="3690257" cy="3670180"/>
          </a:xfrm>
        </p:spPr>
        <p:txBody>
          <a:bodyPr>
            <a:normAutofit lnSpcReduction="10000"/>
          </a:bodyPr>
          <a:lstStyle/>
          <a:p>
            <a:pPr algn="just"/>
            <a:r>
              <a:rPr lang="en-GB" sz="1600" b="1" dirty="0">
                <a:latin typeface="Aptos Serif" panose="02020604070405020304" pitchFamily="18" charset="0"/>
                <a:cs typeface="Aptos Serif" panose="02020604070405020304" pitchFamily="18" charset="0"/>
              </a:rPr>
              <a:t>Result</a:t>
            </a:r>
          </a:p>
          <a:p>
            <a:pPr algn="just"/>
            <a:r>
              <a:rPr lang="en-GB" sz="1600" dirty="0">
                <a:latin typeface="Aptos Serif" panose="02020604070405020304" pitchFamily="18" charset="0"/>
                <a:cs typeface="Aptos Serif" panose="02020604070405020304" pitchFamily="18" charset="0"/>
              </a:rPr>
              <a:t>The developed system successfully identified the transition from a safe state to a gas leakage condition. Upon exceeding the threshold value of </a:t>
            </a:r>
            <a:r>
              <a:rPr lang="en-GB" sz="1600" b="1" dirty="0">
                <a:latin typeface="Aptos Serif" panose="02020604070405020304" pitchFamily="18" charset="0"/>
                <a:cs typeface="Aptos Serif" panose="02020604070405020304" pitchFamily="18" charset="0"/>
              </a:rPr>
              <a:t>2600 ADC units</a:t>
            </a:r>
            <a:r>
              <a:rPr lang="en-GB" sz="1600" dirty="0">
                <a:latin typeface="Aptos Serif" panose="02020604070405020304" pitchFamily="18" charset="0"/>
                <a:cs typeface="Aptos Serif" panose="02020604070405020304" pitchFamily="18" charset="0"/>
              </a:rPr>
              <a:t>, the ESP32 activated the buzzer, illuminated the red LED, updated the LCD display with </a:t>
            </a:r>
            <a:r>
              <a:rPr lang="en-GB" sz="1600" b="1" dirty="0">
                <a:latin typeface="Aptos Serif" panose="02020604070405020304" pitchFamily="18" charset="0"/>
                <a:cs typeface="Aptos Serif" panose="02020604070405020304" pitchFamily="18" charset="0"/>
              </a:rPr>
              <a:t>"Gas Detected!"</a:t>
            </a:r>
            <a:r>
              <a:rPr lang="en-GB" sz="1600" dirty="0">
                <a:latin typeface="Aptos Serif" panose="02020604070405020304" pitchFamily="18" charset="0"/>
                <a:cs typeface="Aptos Serif" panose="02020604070405020304" pitchFamily="18" charset="0"/>
              </a:rPr>
              <a:t>, and transmitted the corresponding gas concentration and status information to </a:t>
            </a:r>
            <a:r>
              <a:rPr lang="en-GB" sz="1600" dirty="0" err="1">
                <a:latin typeface="Aptos Serif" panose="02020604070405020304" pitchFamily="18" charset="0"/>
                <a:cs typeface="Aptos Serif" panose="02020604070405020304" pitchFamily="18" charset="0"/>
              </a:rPr>
              <a:t>ThingSpeak</a:t>
            </a:r>
            <a:r>
              <a:rPr lang="en-GB" sz="1600" dirty="0">
                <a:latin typeface="Aptos Serif" panose="02020604070405020304" pitchFamily="18" charset="0"/>
                <a:cs typeface="Aptos Serif" panose="02020604070405020304" pitchFamily="18" charset="0"/>
              </a:rPr>
              <a:t>. The cloud graphs clearly depict the transition from </a:t>
            </a:r>
            <a:r>
              <a:rPr lang="en-GB" sz="1600" b="1" dirty="0">
                <a:latin typeface="Aptos Serif" panose="02020604070405020304" pitchFamily="18" charset="0"/>
                <a:cs typeface="Aptos Serif" panose="02020604070405020304" pitchFamily="18" charset="0"/>
              </a:rPr>
              <a:t>Status = 0 (Safe)</a:t>
            </a:r>
            <a:r>
              <a:rPr lang="en-GB" sz="1600" dirty="0">
                <a:latin typeface="Aptos Serif" panose="02020604070405020304" pitchFamily="18" charset="0"/>
                <a:cs typeface="Aptos Serif" panose="02020604070405020304" pitchFamily="18" charset="0"/>
              </a:rPr>
              <a:t> to </a:t>
            </a:r>
            <a:r>
              <a:rPr lang="en-GB" sz="1600" b="1" dirty="0">
                <a:latin typeface="Aptos Serif" panose="02020604070405020304" pitchFamily="18" charset="0"/>
                <a:cs typeface="Aptos Serif" panose="02020604070405020304" pitchFamily="18" charset="0"/>
              </a:rPr>
              <a:t>Status = 1 (Leak)</a:t>
            </a:r>
            <a:r>
              <a:rPr lang="en-GB" sz="1600" dirty="0">
                <a:latin typeface="Aptos Serif" panose="02020604070405020304" pitchFamily="18" charset="0"/>
                <a:cs typeface="Aptos Serif" panose="02020604070405020304" pitchFamily="18" charset="0"/>
              </a:rPr>
              <a:t>, demonstrating reliable real-time monitoring and alert generation.</a:t>
            </a:r>
          </a:p>
          <a:p>
            <a:endParaRPr lang="en-GB" sz="1600" dirty="0"/>
          </a:p>
        </p:txBody>
      </p:sp>
      <p:sp>
        <p:nvSpPr>
          <p:cNvPr id="14" name="Rectangle 13">
            <a:extLst>
              <a:ext uri="{FF2B5EF4-FFF2-40B4-BE49-F238E27FC236}">
                <a16:creationId xmlns:a16="http://schemas.microsoft.com/office/drawing/2014/main" id="{1E299956-A9E7-4FC1-A0B1-D590CA9730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6" name="Rectangle 15">
            <a:extLst>
              <a:ext uri="{FF2B5EF4-FFF2-40B4-BE49-F238E27FC236}">
                <a16:creationId xmlns:a16="http://schemas.microsoft.com/office/drawing/2014/main" id="{17FC539C-B783-4B03-9F9E-D13430F3F6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2055363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5F42B-3C8A-4754-D9EF-4E266FD4707B}"/>
              </a:ext>
            </a:extLst>
          </p:cNvPr>
          <p:cNvSpPr>
            <a:spLocks noGrp="1"/>
          </p:cNvSpPr>
          <p:nvPr>
            <p:ph type="title"/>
          </p:nvPr>
        </p:nvSpPr>
        <p:spPr/>
        <p:txBody>
          <a:bodyPr/>
          <a:lstStyle/>
          <a:p>
            <a:r>
              <a:rPr lang="en-GB" dirty="0">
                <a:latin typeface="Aptos Slab SemiBold" panose="020B0004020202020204" pitchFamily="34" charset="0"/>
              </a:rPr>
              <a:t>CONCLUSION</a:t>
            </a:r>
          </a:p>
        </p:txBody>
      </p:sp>
      <p:sp>
        <p:nvSpPr>
          <p:cNvPr id="3" name="Content Placeholder 2">
            <a:extLst>
              <a:ext uri="{FF2B5EF4-FFF2-40B4-BE49-F238E27FC236}">
                <a16:creationId xmlns:a16="http://schemas.microsoft.com/office/drawing/2014/main" id="{6A15F343-9980-CDB3-B5A9-71AA69581F0C}"/>
              </a:ext>
            </a:extLst>
          </p:cNvPr>
          <p:cNvSpPr>
            <a:spLocks noGrp="1"/>
          </p:cNvSpPr>
          <p:nvPr>
            <p:ph idx="1"/>
          </p:nvPr>
        </p:nvSpPr>
        <p:spPr/>
        <p:txBody>
          <a:bodyPr/>
          <a:lstStyle/>
          <a:p>
            <a:pPr algn="just"/>
            <a:r>
              <a:rPr lang="en-GB" dirty="0">
                <a:latin typeface="Aptos Serif" panose="02020604070405020304" pitchFamily="18" charset="0"/>
                <a:cs typeface="Aptos Serif" panose="02020604070405020304" pitchFamily="18" charset="0"/>
              </a:rPr>
              <a:t>The proposed IoT-based Gas Leakage Detection and Alert System was successfully designed and simulated using ESP32 and </a:t>
            </a:r>
            <a:r>
              <a:rPr lang="en-GB" dirty="0" err="1">
                <a:latin typeface="Aptos Serif" panose="02020604070405020304" pitchFamily="18" charset="0"/>
                <a:cs typeface="Aptos Serif" panose="02020604070405020304" pitchFamily="18" charset="0"/>
              </a:rPr>
              <a:t>Wokwi</a:t>
            </a:r>
            <a:r>
              <a:rPr lang="en-GB" dirty="0">
                <a:latin typeface="Aptos Serif" panose="02020604070405020304" pitchFamily="18" charset="0"/>
                <a:cs typeface="Aptos Serif" panose="02020604070405020304" pitchFamily="18" charset="0"/>
              </a:rPr>
              <a:t>. The system continuously monitored gas concentration using an MQ-2 sensor and accurately detected hazardous gas levels using a predefined threshold of </a:t>
            </a:r>
            <a:r>
              <a:rPr lang="en-GB" b="1" dirty="0">
                <a:latin typeface="Aptos Serif" panose="02020604070405020304" pitchFamily="18" charset="0"/>
                <a:cs typeface="Aptos Serif" panose="02020604070405020304" pitchFamily="18" charset="0"/>
              </a:rPr>
              <a:t>2600 ADC units</a:t>
            </a:r>
            <a:r>
              <a:rPr lang="en-GB" dirty="0">
                <a:latin typeface="Aptos Serif" panose="02020604070405020304" pitchFamily="18" charset="0"/>
                <a:cs typeface="Aptos Serif" panose="02020604070405020304" pitchFamily="18" charset="0"/>
              </a:rPr>
              <a:t>.</a:t>
            </a:r>
          </a:p>
          <a:p>
            <a:pPr algn="just"/>
            <a:r>
              <a:rPr lang="en-GB" dirty="0">
                <a:latin typeface="Aptos Serif" panose="02020604070405020304" pitchFamily="18" charset="0"/>
                <a:cs typeface="Aptos Serif" panose="02020604070405020304" pitchFamily="18" charset="0"/>
              </a:rPr>
              <a:t>Upon detecting a gas leak, the ESP32 activated a buzzer, illuminated a red LED, displayed warning messages on the LCD, and transmitted sensor readings to </a:t>
            </a:r>
            <a:r>
              <a:rPr lang="en-GB" dirty="0" err="1">
                <a:latin typeface="Aptos Serif" panose="02020604070405020304" pitchFamily="18" charset="0"/>
                <a:cs typeface="Aptos Serif" panose="02020604070405020304" pitchFamily="18" charset="0"/>
              </a:rPr>
              <a:t>ThingSpeak</a:t>
            </a:r>
            <a:r>
              <a:rPr lang="en-GB" dirty="0">
                <a:latin typeface="Aptos Serif" panose="02020604070405020304" pitchFamily="18" charset="0"/>
                <a:cs typeface="Aptos Serif" panose="02020604070405020304" pitchFamily="18" charset="0"/>
              </a:rPr>
              <a:t> for cloud-based monitoring. The experimental results demonstrated reliable operation under both safe and leak conditions, validating the effectiveness of the proposed system for real-time gas leakage detection and alert generation</a:t>
            </a:r>
          </a:p>
          <a:p>
            <a:endParaRPr lang="en-GB" dirty="0"/>
          </a:p>
        </p:txBody>
      </p:sp>
    </p:spTree>
    <p:extLst>
      <p:ext uri="{BB962C8B-B14F-4D97-AF65-F5344CB8AC3E}">
        <p14:creationId xmlns:p14="http://schemas.microsoft.com/office/powerpoint/2010/main" val="15993875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24123-5B7D-ACB4-6E69-5202D378A208}"/>
              </a:ext>
            </a:extLst>
          </p:cNvPr>
          <p:cNvSpPr>
            <a:spLocks noGrp="1"/>
          </p:cNvSpPr>
          <p:nvPr>
            <p:ph type="title"/>
          </p:nvPr>
        </p:nvSpPr>
        <p:spPr/>
        <p:txBody>
          <a:bodyPr/>
          <a:lstStyle/>
          <a:p>
            <a:r>
              <a:rPr lang="en-GB" dirty="0">
                <a:latin typeface="Aptos Slab SemiBold" panose="020B0004020202020204" pitchFamily="34" charset="0"/>
              </a:rPr>
              <a:t>PROJECT REPOSITORY</a:t>
            </a:r>
          </a:p>
        </p:txBody>
      </p:sp>
      <p:sp>
        <p:nvSpPr>
          <p:cNvPr id="3" name="Content Placeholder 2">
            <a:extLst>
              <a:ext uri="{FF2B5EF4-FFF2-40B4-BE49-F238E27FC236}">
                <a16:creationId xmlns:a16="http://schemas.microsoft.com/office/drawing/2014/main" id="{759A5BA3-AF14-1D14-0112-6A144213161D}"/>
              </a:ext>
            </a:extLst>
          </p:cNvPr>
          <p:cNvSpPr>
            <a:spLocks noGrp="1"/>
          </p:cNvSpPr>
          <p:nvPr>
            <p:ph idx="1"/>
          </p:nvPr>
        </p:nvSpPr>
        <p:spPr/>
        <p:txBody>
          <a:bodyPr/>
          <a:lstStyle/>
          <a:p>
            <a:endParaRPr lang="en-GB" dirty="0"/>
          </a:p>
        </p:txBody>
      </p:sp>
    </p:spTree>
    <p:extLst>
      <p:ext uri="{BB962C8B-B14F-4D97-AF65-F5344CB8AC3E}">
        <p14:creationId xmlns:p14="http://schemas.microsoft.com/office/powerpoint/2010/main" val="571675096"/>
      </p:ext>
    </p:extLst>
  </p:cSld>
  <p:clrMapOvr>
    <a:masterClrMapping/>
  </p:clrMapOvr>
</p:sld>
</file>

<file path=ppt/theme/theme1.xml><?xml version="1.0" encoding="utf-8"?>
<a:theme xmlns:a="http://schemas.openxmlformats.org/drawingml/2006/main" name="Retrospect">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Integral</Template>
  <TotalTime>2844</TotalTime>
  <Words>1338</Words>
  <Application>Microsoft Office PowerPoint</Application>
  <PresentationFormat>Widescreen</PresentationFormat>
  <Paragraphs>158</Paragraphs>
  <Slides>24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Aptos</vt:lpstr>
      <vt:lpstr>Aptos Serif</vt:lpstr>
      <vt:lpstr>Aptos Slab Light</vt:lpstr>
      <vt:lpstr>Aptos Slab SemiBold</vt:lpstr>
      <vt:lpstr>Calibri</vt:lpstr>
      <vt:lpstr>Calibri Light</vt:lpstr>
      <vt:lpstr>system-ui</vt:lpstr>
      <vt:lpstr>Wingdings</vt:lpstr>
      <vt:lpstr>Retrospect</vt:lpstr>
      <vt:lpstr>GAS LEAKAGE DETECTION AND ALERT SYSTEM (USING ESP32 AND THINGSPEAK) </vt:lpstr>
      <vt:lpstr>AIM</vt:lpstr>
      <vt:lpstr>PROBLEM STATEMENT</vt:lpstr>
      <vt:lpstr>SCOPE OF SOLUTION</vt:lpstr>
      <vt:lpstr>OBJECTIVES</vt:lpstr>
      <vt:lpstr>COMPONENTS USED</vt:lpstr>
      <vt:lpstr>COMPONENTS USED</vt:lpstr>
      <vt:lpstr>COMPONENTS USED</vt:lpstr>
      <vt:lpstr>COMPONENTS USED</vt:lpstr>
      <vt:lpstr>CIRCUIT DESCRIPTION</vt:lpstr>
      <vt:lpstr>SIMULATED CIRCUIT DIAGRAM</vt:lpstr>
      <vt:lpstr>WORKING PRINCIPLE</vt:lpstr>
      <vt:lpstr>WORKING PRINCIPLE FLOWCHART</vt:lpstr>
      <vt:lpstr>WORKING PRINCIPLE FLOWCHART</vt:lpstr>
      <vt:lpstr>ThingSpeak Integration</vt:lpstr>
      <vt:lpstr>ThingSpeak Integration</vt:lpstr>
      <vt:lpstr>ThingSpeak Integration</vt:lpstr>
      <vt:lpstr>ThingSpeak Integration</vt:lpstr>
      <vt:lpstr>PROGRAM IMPLEMENTATION</vt:lpstr>
      <vt:lpstr>PROGRAM IMPLEMENTATION</vt:lpstr>
      <vt:lpstr>EXPERIMENTAL RESULT:  SAFE-TO-LEAK TEST</vt:lpstr>
      <vt:lpstr>EXPERIMENTAL RESULT:  SAFE-TO-LEAK TEST</vt:lpstr>
      <vt:lpstr>CONCLUSION</vt:lpstr>
      <vt:lpstr>PROJECT REPOSITORY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Ajna Saj</dc:creator>
  <cp:lastModifiedBy>Ajna Saj</cp:lastModifiedBy>
  <cp:revision>5</cp:revision>
  <dcterms:created xsi:type="dcterms:W3CDTF">2026-06-23T09:37:59Z</dcterms:created>
  <dcterms:modified xsi:type="dcterms:W3CDTF">2026-06-25T09:02:33Z</dcterms:modified>
</cp:coreProperties>
</file>